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fr-FR" sz="1800" strike="noStrike" u="none">
                <a:solidFill>
                  <a:schemeClr val="dk1"/>
                </a:solidFill>
                <a:effectLst/>
                <a:uFillTx/>
                <a:latin typeface="Aptos"/>
              </a:rPr>
              <a:t>Cliquez pour déplacer la diapo</a:t>
            </a:r>
            <a:endParaRPr b="0" lang="fr-FR" sz="1800" strike="noStrike" u="none">
              <a:solidFill>
                <a:schemeClr val="dk1"/>
              </a:solidFill>
              <a:effectLst/>
              <a:uFillTx/>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fr-FR" sz="2000" strike="noStrike" u="none">
                <a:solidFill>
                  <a:srgbClr val="000000"/>
                </a:solidFill>
                <a:effectLst/>
                <a:uFillTx/>
                <a:latin typeface="Arial"/>
              </a:rPr>
              <a:t>Cliquez pour modifier le format des notes</a:t>
            </a:r>
            <a:endParaRPr b="0" lang="fr-FR"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effectLst/>
                <a:uFillTx/>
                <a:latin typeface="Times New Roman"/>
              </a:rPr>
              <a:t> </a:t>
            </a:r>
            <a:endParaRPr b="0" lang="fr-FR"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effectLst/>
                <a:uFillTx/>
                <a:latin typeface="Times New Roman"/>
              </a:defRPr>
            </a:lvl1pPr>
          </a:lstStyle>
          <a:p>
            <a:pPr indent="0" algn="r">
              <a:buNone/>
            </a:pPr>
            <a:r>
              <a:rPr b="0" lang="fr-FR" sz="1400" strike="noStrike" u="none">
                <a:solidFill>
                  <a:srgbClr val="000000"/>
                </a:solidFill>
                <a:effectLst/>
                <a:uFillTx/>
                <a:latin typeface="Times New Roman"/>
              </a:rPr>
              <a:t> </a:t>
            </a:r>
            <a:endParaRPr b="0" lang="fr-FR"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effectLst/>
                <a:uFillTx/>
                <a:latin typeface="Times New Roman"/>
              </a:defRPr>
            </a:lvl1pPr>
          </a:lstStyle>
          <a:p>
            <a:pPr indent="0">
              <a:buNone/>
            </a:pPr>
            <a:r>
              <a:rPr b="0" lang="fr-FR" sz="1400" strike="noStrike" u="none">
                <a:solidFill>
                  <a:srgbClr val="000000"/>
                </a:solidFill>
                <a:effectLst/>
                <a:uFillTx/>
                <a:latin typeface="Times New Roman"/>
              </a:rPr>
              <a:t> </a:t>
            </a:r>
            <a:endParaRPr b="0" lang="fr-FR"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effectLst/>
                <a:uFillTx/>
                <a:latin typeface="Times New Roman"/>
              </a:defRPr>
            </a:lvl1pPr>
          </a:lstStyle>
          <a:p>
            <a:pPr indent="0" algn="r">
              <a:buNone/>
            </a:pPr>
            <a:fld id="{E22A4FEB-8E71-4841-ADEA-9FC1915BA461}" type="slidenum">
              <a:rPr b="0" lang="fr-FR" sz="1400" strike="noStrike" u="none">
                <a:solidFill>
                  <a:srgbClr val="000000"/>
                </a:solidFill>
                <a:effectLst/>
                <a:uFillTx/>
                <a:latin typeface="Times New Roman"/>
              </a:rPr>
              <a:t>1</a:t>
            </a:fld>
            <a:endParaRPr b="0" lang="fr-F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685800" y="1143000"/>
            <a:ext cx="5486040" cy="3085920"/>
          </a:xfrm>
          <a:prstGeom prst="rect">
            <a:avLst/>
          </a:prstGeom>
          <a:ln w="0">
            <a:noFill/>
          </a:ln>
        </p:spPr>
      </p:sp>
      <p:sp>
        <p:nvSpPr>
          <p:cNvPr id="1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Bonjour. Je vais vous présenter mon projet de Data Engineering sur les données publiques des taxis jaunes de New York. L'objectif était de construire un pipeline complet : ingestion, nettoyage, transformations, tests, automatisation et dashboard. J'ai travaillé sur les 12 mois de 2025, avec environ 48,7 millions de lignes au départ. En sortie, j'obtiens des tables analytiques fiables dans Snowflake, industrialisées avec dbt et visualisées avec Streamlit.</a:t>
            </a:r>
            <a:endParaRPr b="0" lang="fr-FR" sz="2000" strike="noStrike" u="none">
              <a:solidFill>
                <a:srgbClr val="000000"/>
              </a:solidFill>
              <a:effectLst/>
              <a:uFillTx/>
              <a:latin typeface="Arial"/>
            </a:endParaRPr>
          </a:p>
        </p:txBody>
      </p:sp>
      <p:sp>
        <p:nvSpPr>
          <p:cNvPr id="116"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0330DE1-E677-43DB-8924-073837A852E3}" type="slidenum">
              <a:rPr b="0" lang="en-US" sz="1200" strike="noStrike" u="none">
                <a:solidFill>
                  <a:schemeClr val="dk1"/>
                </a:solidFill>
                <a:effectLst/>
                <a:uFillTx/>
                <a:latin typeface="+mn-lt"/>
                <a:ea typeface="+mn-ea"/>
              </a:rPr>
              <a:t>5</a:t>
            </a:fld>
            <a:endParaRPr b="0" lang="fr-FR"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685800" y="1143000"/>
            <a:ext cx="5486040" cy="3085920"/>
          </a:xfrm>
          <a:prstGeom prst="rect">
            <a:avLst/>
          </a:prstGeom>
          <a:ln w="0">
            <a:noFill/>
          </a:ln>
        </p:spPr>
      </p:sp>
      <p:sp>
        <p:nvSpPr>
          <p:cNvPr id="1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J'ai organisé le Data Warehouse en trois couches. </a:t>
            </a:r>
            <a:r>
              <a:rPr b="1" lang="en-US" sz="2000" strike="noStrike" u="none">
                <a:solidFill>
                  <a:srgbClr val="000000"/>
                </a:solidFill>
                <a:effectLst/>
                <a:uFillTx/>
                <a:latin typeface="Arial"/>
              </a:rPr>
              <a:t>RAW</a:t>
            </a:r>
            <a:r>
              <a:rPr b="0" lang="en-US" sz="2000" strike="noStrike" u="none">
                <a:solidFill>
                  <a:srgbClr val="000000"/>
                </a:solidFill>
                <a:effectLst/>
                <a:uFillTx/>
                <a:latin typeface="Arial"/>
              </a:rPr>
              <a:t> garde les données brutes, sans transformation métier.</a:t>
            </a:r>
            <a:endParaRPr b="0" lang="fr-FR" sz="2000" strike="noStrike" u="none">
              <a:solidFill>
                <a:srgbClr val="000000"/>
              </a:solidFill>
              <a:effectLst/>
              <a:uFillTx/>
              <a:latin typeface="Arial"/>
            </a:endParaRPr>
          </a:p>
          <a:p>
            <a:pPr indent="0">
              <a:buNone/>
            </a:pPr>
            <a:r>
              <a:rPr b="1" lang="en-US" sz="2000" strike="noStrike" u="none">
                <a:solidFill>
                  <a:srgbClr val="000000"/>
                </a:solidFill>
                <a:effectLst/>
                <a:uFillTx/>
                <a:latin typeface="Arial"/>
              </a:rPr>
              <a:t>STAGING</a:t>
            </a:r>
            <a:r>
              <a:rPr b="0" lang="en-US" sz="2000" strike="noStrike" u="none">
                <a:solidFill>
                  <a:srgbClr val="000000"/>
                </a:solidFill>
                <a:effectLst/>
                <a:uFillTx/>
                <a:latin typeface="Arial"/>
              </a:rPr>
              <a:t> sert à nettoyer, filtrer et enrichir les données.</a:t>
            </a:r>
            <a:endParaRPr b="0" lang="fr-FR" sz="2000" strike="noStrike" u="none">
              <a:solidFill>
                <a:srgbClr val="000000"/>
              </a:solidFill>
              <a:effectLst/>
              <a:uFillTx/>
              <a:latin typeface="Arial"/>
            </a:endParaRPr>
          </a:p>
          <a:p>
            <a:pPr indent="0">
              <a:buNone/>
            </a:pPr>
            <a:r>
              <a:rPr b="1" lang="en-US" sz="2000" strike="noStrike" u="none">
                <a:solidFill>
                  <a:srgbClr val="000000"/>
                </a:solidFill>
                <a:effectLst/>
                <a:uFillTx/>
                <a:latin typeface="Arial"/>
              </a:rPr>
              <a:t>FINAL</a:t>
            </a:r>
            <a:r>
              <a:rPr b="0" lang="en-US" sz="2000" strike="noStrike" u="none">
                <a:solidFill>
                  <a:srgbClr val="000000"/>
                </a:solidFill>
                <a:effectLst/>
                <a:uFillTx/>
                <a:latin typeface="Arial"/>
              </a:rPr>
              <a:t> contient les tables d'analyse prêtes à être utilisées.</a:t>
            </a:r>
            <a:endParaRPr b="0" lang="fr-FR"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Cette séparation m'aide à garder la traçabilité et à expliquer clairement où chaque transformation est réalisée. </a:t>
            </a:r>
            <a:endParaRPr b="0" lang="fr-FR"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Pour ce projet, j'ai utilisé un Internal Stage Snowflake pour charger les fichiers Parquet.</a:t>
            </a:r>
            <a:endParaRPr b="0" lang="fr-FR" sz="2000" strike="noStrike" u="none">
              <a:solidFill>
                <a:srgbClr val="000000"/>
              </a:solidFill>
              <a:effectLst/>
              <a:uFillTx/>
              <a:latin typeface="Arial"/>
            </a:endParaRPr>
          </a:p>
        </p:txBody>
      </p:sp>
      <p:sp>
        <p:nvSpPr>
          <p:cNvPr id="119"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D3281FE-94BC-4A95-B81C-D919CA4C7258}" type="slidenum">
              <a:rPr b="0" lang="en-US" sz="1200" strike="noStrike" u="none">
                <a:solidFill>
                  <a:schemeClr val="dk1"/>
                </a:solidFill>
                <a:effectLst/>
                <a:uFillTx/>
                <a:latin typeface="+mn-lt"/>
                <a:ea typeface="+mn-ea"/>
              </a:rPr>
              <a:t>5</a:t>
            </a:fld>
            <a:endParaRPr b="0" lang="fr-FR"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685800" y="1143000"/>
            <a:ext cx="5486040" cy="3085920"/>
          </a:xfrm>
          <a:prstGeom prst="rect">
            <a:avLst/>
          </a:prstGeom>
          <a:ln w="0">
            <a:noFill/>
          </a:ln>
        </p:spPr>
      </p:sp>
      <p:sp>
        <p:nvSpPr>
          <p:cNvPr id="1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Avant de créer les analyses, j'ai contrôlé la </a:t>
            </a:r>
            <a:r>
              <a:rPr b="1" lang="en-US" sz="2000" strike="noStrike" u="none">
                <a:solidFill>
                  <a:srgbClr val="000000"/>
                </a:solidFill>
                <a:effectLst/>
                <a:uFillTx/>
                <a:latin typeface="Arial"/>
              </a:rPr>
              <a:t>qualité</a:t>
            </a:r>
            <a:r>
              <a:rPr b="0" lang="en-US" sz="2000" strike="noStrike" u="none">
                <a:solidFill>
                  <a:srgbClr val="000000"/>
                </a:solidFill>
                <a:effectLst/>
                <a:uFillTx/>
                <a:latin typeface="Arial"/>
              </a:rPr>
              <a:t> des données. J'ai trouvé des </a:t>
            </a:r>
            <a:r>
              <a:rPr b="1" lang="en-US" sz="2000" strike="noStrike" u="none">
                <a:solidFill>
                  <a:srgbClr val="000000"/>
                </a:solidFill>
                <a:effectLst/>
                <a:uFillTx/>
                <a:latin typeface="Arial"/>
              </a:rPr>
              <a:t>distances</a:t>
            </a:r>
            <a:r>
              <a:rPr b="0" lang="en-US" sz="2000" strike="noStrike" u="none">
                <a:solidFill>
                  <a:srgbClr val="000000"/>
                </a:solidFill>
                <a:effectLst/>
                <a:uFillTx/>
                <a:latin typeface="Arial"/>
              </a:rPr>
              <a:t> nulles ou aberrantes, des </a:t>
            </a:r>
            <a:r>
              <a:rPr b="1" lang="en-US" sz="2000" strike="noStrike" u="none">
                <a:solidFill>
                  <a:srgbClr val="000000"/>
                </a:solidFill>
                <a:effectLst/>
                <a:uFillTx/>
                <a:latin typeface="Arial"/>
              </a:rPr>
              <a:t>montants négatifs</a:t>
            </a:r>
            <a:r>
              <a:rPr b="0" lang="en-US" sz="2000" strike="noStrike" u="none">
                <a:solidFill>
                  <a:srgbClr val="000000"/>
                </a:solidFill>
                <a:effectLst/>
                <a:uFillTx/>
                <a:latin typeface="Arial"/>
              </a:rPr>
              <a:t>, des </a:t>
            </a:r>
            <a:r>
              <a:rPr b="1" lang="en-US" sz="2000" strike="noStrike" u="none">
                <a:solidFill>
                  <a:srgbClr val="000000"/>
                </a:solidFill>
                <a:effectLst/>
                <a:uFillTx/>
                <a:latin typeface="Arial"/>
              </a:rPr>
              <a:t>dates hors 2025</a:t>
            </a:r>
            <a:r>
              <a:rPr b="0" lang="en-US" sz="2000" strike="noStrike" u="none">
                <a:solidFill>
                  <a:srgbClr val="000000"/>
                </a:solidFill>
                <a:effectLst/>
                <a:uFillTx/>
                <a:latin typeface="Arial"/>
              </a:rPr>
              <a:t> et des </a:t>
            </a:r>
            <a:r>
              <a:rPr b="1" lang="en-US" sz="2000" strike="noStrike" u="none">
                <a:solidFill>
                  <a:srgbClr val="000000"/>
                </a:solidFill>
                <a:effectLst/>
                <a:uFillTx/>
                <a:latin typeface="Arial"/>
              </a:rPr>
              <a:t>durées invalides</a:t>
            </a:r>
            <a:r>
              <a:rPr b="0" lang="en-US" sz="2000" strike="noStrike" u="none">
                <a:solidFill>
                  <a:srgbClr val="000000"/>
                </a:solidFill>
                <a:effectLst/>
                <a:uFillTx/>
                <a:latin typeface="Arial"/>
              </a:rPr>
              <a:t>. </a:t>
            </a:r>
            <a:endParaRPr b="0" lang="fr-FR"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J'ai appliqué toutes les règles en même temps. </a:t>
            </a:r>
            <a:r>
              <a:rPr b="1" lang="en-US" sz="2000" strike="noStrike" u="none">
                <a:solidFill>
                  <a:srgbClr val="000000"/>
                </a:solidFill>
                <a:effectLst/>
                <a:uFillTx/>
                <a:latin typeface="Arial"/>
              </a:rPr>
              <a:t>Après nettoyage</a:t>
            </a:r>
            <a:r>
              <a:rPr b="0" lang="en-US" sz="2000" strike="noStrike" u="none">
                <a:solidFill>
                  <a:srgbClr val="000000"/>
                </a:solidFill>
                <a:effectLst/>
                <a:uFillTx/>
                <a:latin typeface="Arial"/>
              </a:rPr>
              <a:t>, je garde </a:t>
            </a:r>
            <a:r>
              <a:rPr b="1" lang="en-US" sz="2000" strike="noStrike" u="none">
                <a:solidFill>
                  <a:srgbClr val="000000"/>
                </a:solidFill>
                <a:effectLst/>
                <a:uFillTx/>
                <a:latin typeface="Arial"/>
              </a:rPr>
              <a:t>44 178 660 </a:t>
            </a:r>
            <a:r>
              <a:rPr b="0" lang="en-US" sz="2000" strike="noStrike" u="none">
                <a:solidFill>
                  <a:srgbClr val="000000"/>
                </a:solidFill>
                <a:effectLst/>
                <a:uFillTx/>
                <a:latin typeface="Arial"/>
              </a:rPr>
              <a:t>trajets, soit environ </a:t>
            </a:r>
            <a:r>
              <a:rPr b="1" lang="en-US" sz="2000" strike="noStrike" u="none">
                <a:solidFill>
                  <a:srgbClr val="000000"/>
                </a:solidFill>
                <a:effectLst/>
                <a:uFillTx/>
                <a:latin typeface="Arial"/>
              </a:rPr>
              <a:t>90,67 %</a:t>
            </a:r>
            <a:r>
              <a:rPr b="0" lang="en-US" sz="2000" strike="noStrike" u="none">
                <a:solidFill>
                  <a:srgbClr val="000000"/>
                </a:solidFill>
                <a:effectLst/>
                <a:uFillTx/>
                <a:latin typeface="Arial"/>
              </a:rPr>
              <a:t> des données.</a:t>
            </a:r>
            <a:endParaRPr b="0" lang="fr-FR"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J'ai aussi </a:t>
            </a:r>
            <a:r>
              <a:rPr b="1" lang="en-US" sz="2000" strike="noStrike" u="none">
                <a:solidFill>
                  <a:srgbClr val="000000"/>
                </a:solidFill>
                <a:effectLst/>
                <a:uFillTx/>
                <a:latin typeface="Arial"/>
              </a:rPr>
              <a:t>enrichi</a:t>
            </a:r>
            <a:r>
              <a:rPr b="0" lang="en-US" sz="2000" strike="noStrike" u="none">
                <a:solidFill>
                  <a:srgbClr val="000000"/>
                </a:solidFill>
                <a:effectLst/>
                <a:uFillTx/>
                <a:latin typeface="Arial"/>
              </a:rPr>
              <a:t> les données avec la </a:t>
            </a:r>
            <a:r>
              <a:rPr b="1" lang="en-US" sz="2000" strike="noStrike" u="none">
                <a:solidFill>
                  <a:srgbClr val="000000"/>
                </a:solidFill>
                <a:effectLst/>
                <a:uFillTx/>
                <a:latin typeface="Arial"/>
              </a:rPr>
              <a:t>durée</a:t>
            </a:r>
            <a:r>
              <a:rPr b="0" lang="en-US" sz="2000" strike="noStrike" u="none">
                <a:solidFill>
                  <a:srgbClr val="000000"/>
                </a:solidFill>
                <a:effectLst/>
                <a:uFillTx/>
                <a:latin typeface="Arial"/>
              </a:rPr>
              <a:t>, la </a:t>
            </a:r>
            <a:r>
              <a:rPr b="1" lang="en-US" sz="2000" strike="noStrike" u="none">
                <a:solidFill>
                  <a:srgbClr val="000000"/>
                </a:solidFill>
                <a:effectLst/>
                <a:uFillTx/>
                <a:latin typeface="Arial"/>
              </a:rPr>
              <a:t>vitesse</a:t>
            </a:r>
            <a:r>
              <a:rPr b="0" lang="en-US" sz="2000" strike="noStrike" u="none">
                <a:solidFill>
                  <a:srgbClr val="000000"/>
                </a:solidFill>
                <a:effectLst/>
                <a:uFillTx/>
                <a:latin typeface="Arial"/>
              </a:rPr>
              <a:t>, le </a:t>
            </a:r>
            <a:r>
              <a:rPr b="1" lang="en-US" sz="2000" strike="noStrike" u="none">
                <a:solidFill>
                  <a:srgbClr val="000000"/>
                </a:solidFill>
                <a:effectLst/>
                <a:uFillTx/>
                <a:latin typeface="Arial"/>
              </a:rPr>
              <a:t>taux de pourboire</a:t>
            </a:r>
            <a:r>
              <a:rPr b="0" lang="en-US" sz="2000" strike="noStrike" u="none">
                <a:solidFill>
                  <a:srgbClr val="000000"/>
                </a:solidFill>
                <a:effectLst/>
                <a:uFillTx/>
                <a:latin typeface="Arial"/>
              </a:rPr>
              <a:t> et des </a:t>
            </a:r>
            <a:r>
              <a:rPr b="1" lang="en-US" sz="2000" strike="noStrike" u="none">
                <a:solidFill>
                  <a:srgbClr val="000000"/>
                </a:solidFill>
                <a:effectLst/>
                <a:uFillTx/>
                <a:latin typeface="Arial"/>
              </a:rPr>
              <a:t>catégories</a:t>
            </a:r>
            <a:r>
              <a:rPr b="0" lang="en-US" sz="2000" strike="noStrike" u="none">
                <a:solidFill>
                  <a:srgbClr val="000000"/>
                </a:solidFill>
                <a:effectLst/>
                <a:uFillTx/>
                <a:latin typeface="Arial"/>
              </a:rPr>
              <a:t> utiles pour l'analyse.</a:t>
            </a:r>
            <a:endParaRPr b="0" lang="fr-FR" sz="2000" strike="noStrike" u="none">
              <a:solidFill>
                <a:srgbClr val="000000"/>
              </a:solidFill>
              <a:effectLst/>
              <a:uFillTx/>
              <a:latin typeface="Arial"/>
            </a:endParaRPr>
          </a:p>
        </p:txBody>
      </p:sp>
      <p:sp>
        <p:nvSpPr>
          <p:cNvPr id="122"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CA19357-E415-4E40-B042-5EEBDF00AEAC}" type="slidenum">
              <a:rPr b="0" lang="en-US" sz="1200" strike="noStrike" u="none">
                <a:solidFill>
                  <a:schemeClr val="dk1"/>
                </a:solidFill>
                <a:effectLst/>
                <a:uFillTx/>
                <a:latin typeface="+mn-lt"/>
                <a:ea typeface="+mn-ea"/>
              </a:rPr>
              <a:t>5</a:t>
            </a:fld>
            <a:endParaRPr b="0" lang="fr-FR"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6040" cy="3085920"/>
          </a:xfrm>
          <a:prstGeom prst="rect">
            <a:avLst/>
          </a:prstGeom>
          <a:ln w="0">
            <a:noFill/>
          </a:ln>
        </p:spPr>
      </p:sp>
      <p:sp>
        <p:nvSpPr>
          <p:cNvPr id="1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J'ai utilisé</a:t>
            </a:r>
            <a:r>
              <a:rPr b="1" lang="en-US" sz="2000" strike="noStrike" u="none">
                <a:solidFill>
                  <a:srgbClr val="000000"/>
                </a:solidFill>
                <a:effectLst/>
                <a:uFillTx/>
                <a:latin typeface="Arial"/>
              </a:rPr>
              <a:t> dbt Core</a:t>
            </a:r>
            <a:r>
              <a:rPr b="0" lang="en-US" sz="2000" strike="noStrike" u="none">
                <a:solidFill>
                  <a:srgbClr val="000000"/>
                </a:solidFill>
                <a:effectLst/>
                <a:uFillTx/>
                <a:latin typeface="Arial"/>
              </a:rPr>
              <a:t> pour industrialiser les transformations. Les modèles sont organisés en </a:t>
            </a:r>
            <a:r>
              <a:rPr b="1" lang="en-US" sz="2000" strike="noStrike" u="none">
                <a:solidFill>
                  <a:srgbClr val="000000"/>
                </a:solidFill>
                <a:effectLst/>
                <a:uFillTx/>
                <a:latin typeface="Arial"/>
              </a:rPr>
              <a:t>staging</a:t>
            </a:r>
            <a:r>
              <a:rPr b="0" lang="en-US" sz="2000" strike="noStrike" u="none">
                <a:solidFill>
                  <a:srgbClr val="000000"/>
                </a:solidFill>
                <a:effectLst/>
                <a:uFillTx/>
                <a:latin typeface="Arial"/>
              </a:rPr>
              <a:t>, </a:t>
            </a:r>
            <a:r>
              <a:rPr b="1" lang="en-US" sz="2000" strike="noStrike" u="none">
                <a:solidFill>
                  <a:srgbClr val="000000"/>
                </a:solidFill>
                <a:effectLst/>
                <a:uFillTx/>
                <a:latin typeface="Arial"/>
              </a:rPr>
              <a:t>intermediate</a:t>
            </a:r>
            <a:r>
              <a:rPr b="0" lang="en-US" sz="2000" strike="noStrike" u="none">
                <a:solidFill>
                  <a:srgbClr val="000000"/>
                </a:solidFill>
                <a:effectLst/>
                <a:uFillTx/>
                <a:latin typeface="Arial"/>
              </a:rPr>
              <a:t> et </a:t>
            </a:r>
            <a:r>
              <a:rPr b="1" lang="en-US" sz="2000" strike="noStrike" u="none">
                <a:solidFill>
                  <a:srgbClr val="000000"/>
                </a:solidFill>
                <a:effectLst/>
                <a:uFillTx/>
                <a:latin typeface="Arial"/>
              </a:rPr>
              <a:t>marts</a:t>
            </a:r>
            <a:r>
              <a:rPr b="0" lang="en-US" sz="2000" strike="noStrike" u="none">
                <a:solidFill>
                  <a:srgbClr val="000000"/>
                </a:solidFill>
                <a:effectLst/>
                <a:uFillTx/>
                <a:latin typeface="Arial"/>
              </a:rPr>
              <a:t>. J'ai ajouté des tests, et j'ai obtenu 37 tests PASS. J'ai aussi généré la documentation et le lineage avec dbt docs. Pour l'automatisation, j'ai créé un workflow</a:t>
            </a:r>
            <a:r>
              <a:rPr b="1" lang="en-US" sz="2000" strike="noStrike" u="none">
                <a:solidFill>
                  <a:srgbClr val="000000"/>
                </a:solidFill>
                <a:effectLst/>
                <a:uFillTx/>
                <a:latin typeface="Arial"/>
              </a:rPr>
              <a:t> GitHub Actions</a:t>
            </a:r>
            <a:r>
              <a:rPr b="0" lang="en-US" sz="2000" strike="noStrike" u="none">
                <a:solidFill>
                  <a:srgbClr val="000000"/>
                </a:solidFill>
                <a:effectLst/>
                <a:uFillTx/>
                <a:latin typeface="Arial"/>
              </a:rPr>
              <a:t>. Il peut être lancé manuellement et il est planifié chaque mois. Les identifiants Snowflake sont protégés dans les secrets GitHub. J'ai également ajouté une </a:t>
            </a:r>
            <a:r>
              <a:rPr b="1" lang="en-US" sz="2000" strike="noStrike" u="none">
                <a:solidFill>
                  <a:srgbClr val="000000"/>
                </a:solidFill>
                <a:effectLst/>
                <a:uFillTx/>
                <a:latin typeface="Arial"/>
              </a:rPr>
              <a:t>notification</a:t>
            </a:r>
            <a:r>
              <a:rPr b="0" lang="en-US" sz="2000" strike="noStrike" u="none">
                <a:solidFill>
                  <a:srgbClr val="000000"/>
                </a:solidFill>
                <a:effectLst/>
                <a:uFillTx/>
                <a:latin typeface="Arial"/>
              </a:rPr>
              <a:t> : si le pipeline échoue, une Issue GitHub est créée.</a:t>
            </a:r>
            <a:endParaRPr b="0" lang="fr-FR" sz="2000" strike="noStrike" u="none">
              <a:solidFill>
                <a:srgbClr val="000000"/>
              </a:solidFill>
              <a:effectLst/>
              <a:uFillTx/>
              <a:latin typeface="Arial"/>
            </a:endParaRPr>
          </a:p>
        </p:txBody>
      </p:sp>
      <p:sp>
        <p:nvSpPr>
          <p:cNvPr id="125"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072B873-D839-4FA6-AFC5-8A183E781FDA}" type="slidenum">
              <a:rPr b="0" lang="en-US" sz="1200" strike="noStrike" u="none">
                <a:solidFill>
                  <a:schemeClr val="dk1"/>
                </a:solidFill>
                <a:effectLst/>
                <a:uFillTx/>
                <a:latin typeface="+mn-lt"/>
                <a:ea typeface="+mn-ea"/>
              </a:rPr>
              <a:t>5</a:t>
            </a:fld>
            <a:endParaRPr b="0" lang="fr-FR"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685800" y="1143000"/>
            <a:ext cx="5486040" cy="3085920"/>
          </a:xfrm>
          <a:prstGeom prst="rect">
            <a:avLst/>
          </a:prstGeom>
          <a:ln w="0">
            <a:noFill/>
          </a:ln>
        </p:spPr>
      </p:sp>
      <p:sp>
        <p:nvSpPr>
          <p:cNvPr id="1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Le dashboard </a:t>
            </a:r>
            <a:r>
              <a:rPr b="1" lang="en-US" sz="2000" strike="noStrike" u="none">
                <a:solidFill>
                  <a:srgbClr val="000000"/>
                </a:solidFill>
                <a:effectLst/>
                <a:uFillTx/>
                <a:latin typeface="Arial"/>
              </a:rPr>
              <a:t>Streamlit</a:t>
            </a:r>
            <a:r>
              <a:rPr b="0" lang="en-US" sz="2000" strike="noStrike" u="none">
                <a:solidFill>
                  <a:srgbClr val="000000"/>
                </a:solidFill>
                <a:effectLst/>
                <a:uFillTx/>
                <a:latin typeface="Arial"/>
              </a:rPr>
              <a:t> se connecte aux tables finales dans Snowflake. Il affiche les principaux </a:t>
            </a:r>
            <a:r>
              <a:rPr b="1" lang="en-US" sz="2000" strike="noStrike" u="none">
                <a:solidFill>
                  <a:srgbClr val="000000"/>
                </a:solidFill>
                <a:effectLst/>
                <a:uFillTx/>
                <a:latin typeface="Arial"/>
              </a:rPr>
              <a:t>KPIs</a:t>
            </a:r>
            <a:r>
              <a:rPr b="0" lang="en-US" sz="2000" strike="noStrike" u="none">
                <a:solidFill>
                  <a:srgbClr val="000000"/>
                </a:solidFill>
                <a:effectLst/>
                <a:uFillTx/>
                <a:latin typeface="Arial"/>
              </a:rPr>
              <a:t>, puis des </a:t>
            </a:r>
            <a:r>
              <a:rPr b="1" lang="en-US" sz="2000" strike="noStrike" u="none">
                <a:solidFill>
                  <a:srgbClr val="000000"/>
                </a:solidFill>
                <a:effectLst/>
                <a:uFillTx/>
                <a:latin typeface="Arial"/>
              </a:rPr>
              <a:t>visualisations</a:t>
            </a:r>
            <a:r>
              <a:rPr b="0" lang="en-US" sz="2000" strike="noStrike" u="none">
                <a:solidFill>
                  <a:srgbClr val="000000"/>
                </a:solidFill>
                <a:effectLst/>
                <a:uFillTx/>
                <a:latin typeface="Arial"/>
              </a:rPr>
              <a:t> sur l'évolution quotidienne, les heures de forte activité et les zones les plus utilisées. Le filtre permet de comparer les jours de semaine et les week-ends. Pour conclure, le projet couvre toute la chaîne : ingestion, nettoyage, transformations, tests, automatisation et visualisation. Une amélioration future serait d'automatiser aussi l'ingestion mensuelle jusqu'à RAW et d'ajouter le référentiel officiel des zones.</a:t>
            </a:r>
            <a:endParaRPr b="0" lang="fr-FR" sz="2000" strike="noStrike" u="none">
              <a:solidFill>
                <a:srgbClr val="000000"/>
              </a:solidFill>
              <a:effectLst/>
              <a:uFillTx/>
              <a:latin typeface="Arial"/>
            </a:endParaRPr>
          </a:p>
        </p:txBody>
      </p:sp>
      <p:sp>
        <p:nvSpPr>
          <p:cNvPr id="128"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8D64B7F-BC7E-4014-8279-ADDA155ABF2C}" type="slidenum">
              <a:rPr b="0" lang="en-US" sz="1200" strike="noStrike" u="none">
                <a:solidFill>
                  <a:schemeClr val="dk1"/>
                </a:solidFill>
                <a:effectLst/>
                <a:uFillTx/>
                <a:latin typeface="+mn-lt"/>
                <a:ea typeface="+mn-ea"/>
              </a:rPr>
              <a:t>&lt;numéro&gt;</a:t>
            </a:fld>
            <a:endParaRPr b="0" lang="fr-FR"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fr-FR" sz="1800" strike="noStrike" u="none">
                <a:solidFill>
                  <a:schemeClr val="dk1"/>
                </a:solidFill>
                <a:effectLst/>
                <a:uFillTx/>
                <a:latin typeface="Aptos"/>
              </a:rPr>
              <a:t>Cliquez pour éditer le format du texte-titre</a:t>
            </a:r>
            <a:endParaRPr b="0" lang="fr-FR" sz="1800" strike="noStrike" u="none">
              <a:solidFill>
                <a:schemeClr val="dk1"/>
              </a:solidFill>
              <a:effectLst/>
              <a:uFillTx/>
              <a:latin typeface="Aptos"/>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trike="noStrike" u="none">
                <a:solidFill>
                  <a:schemeClr val="dk1"/>
                </a:solidFill>
                <a:effectLst/>
                <a:uFillTx/>
                <a:latin typeface="Aptos"/>
              </a:rPr>
              <a:t>Cliquez pour éditer le format du plan de texte</a:t>
            </a:r>
            <a:endParaRPr b="0" lang="fr-FR" sz="3200" strike="noStrike" u="none">
              <a:solidFill>
                <a:schemeClr val="dk1"/>
              </a:solidFill>
              <a:effectLst/>
              <a:uFillTx/>
              <a:latin typeface="Aptos"/>
            </a:endParaRPr>
          </a:p>
          <a:p>
            <a:pPr lvl="1" marL="864000" indent="-324000">
              <a:spcBef>
                <a:spcPts val="1134"/>
              </a:spcBef>
              <a:buClr>
                <a:srgbClr val="000000"/>
              </a:buClr>
              <a:buSzPct val="75000"/>
              <a:buFont typeface="Symbol" charset="2"/>
              <a:buChar char=""/>
            </a:pPr>
            <a:r>
              <a:rPr b="0" lang="fr-FR" sz="2400" strike="noStrike" u="none">
                <a:solidFill>
                  <a:schemeClr val="dk1"/>
                </a:solidFill>
                <a:effectLst/>
                <a:uFillTx/>
                <a:latin typeface="Aptos"/>
              </a:rPr>
              <a:t>Second niveau de plan</a:t>
            </a:r>
            <a:endParaRPr b="0" lang="fr-FR" sz="2400" strike="noStrike" u="none">
              <a:solidFill>
                <a:schemeClr val="dk1"/>
              </a:solidFill>
              <a:effectLst/>
              <a:uFillTx/>
              <a:latin typeface="Aptos"/>
            </a:endParaRPr>
          </a:p>
          <a:p>
            <a:pPr lvl="2" marL="1296000" indent="-288000">
              <a:spcBef>
                <a:spcPts val="850"/>
              </a:spcBef>
              <a:buClr>
                <a:srgbClr val="000000"/>
              </a:buClr>
              <a:buSzPct val="45000"/>
              <a:buFont typeface="Wingdings" charset="2"/>
              <a:buChar char=""/>
            </a:pPr>
            <a:r>
              <a:rPr b="0" lang="fr-FR" sz="2000" strike="noStrike" u="none">
                <a:solidFill>
                  <a:schemeClr val="dk1"/>
                </a:solidFill>
                <a:effectLst/>
                <a:uFillTx/>
                <a:latin typeface="Aptos"/>
              </a:rPr>
              <a:t>Troisième niveau de plan</a:t>
            </a:r>
            <a:endParaRPr b="0" lang="fr-FR" sz="2000" strike="noStrike" u="none">
              <a:solidFill>
                <a:schemeClr val="dk1"/>
              </a:solidFill>
              <a:effectLst/>
              <a:uFillTx/>
              <a:latin typeface="Aptos"/>
            </a:endParaRPr>
          </a:p>
          <a:p>
            <a:pPr lvl="3" marL="1728000" indent="-216000">
              <a:spcBef>
                <a:spcPts val="567"/>
              </a:spcBef>
              <a:buClr>
                <a:srgbClr val="000000"/>
              </a:buClr>
              <a:buSzPct val="75000"/>
              <a:buFont typeface="Symbol" charset="2"/>
              <a:buChar char=""/>
            </a:pPr>
            <a:r>
              <a:rPr b="0" lang="fr-FR" sz="2000" strike="noStrike" u="none">
                <a:solidFill>
                  <a:schemeClr val="dk1"/>
                </a:solidFill>
                <a:effectLst/>
                <a:uFillTx/>
                <a:latin typeface="Aptos"/>
              </a:rPr>
              <a:t>Quatrième niveau de plan</a:t>
            </a:r>
            <a:endParaRPr b="0" lang="fr-FR" sz="2000" strike="noStrike" u="none">
              <a:solidFill>
                <a:schemeClr val="dk1"/>
              </a:solidFill>
              <a:effectLst/>
              <a:uFillTx/>
              <a:latin typeface="Aptos"/>
            </a:endParaRPr>
          </a:p>
          <a:p>
            <a:pPr lvl="4" marL="2160000" indent="-216000">
              <a:spcBef>
                <a:spcPts val="283"/>
              </a:spcBef>
              <a:buClr>
                <a:srgbClr val="000000"/>
              </a:buClr>
              <a:buSzPct val="45000"/>
              <a:buFont typeface="Wingdings" charset="2"/>
              <a:buChar char=""/>
            </a:pPr>
            <a:r>
              <a:rPr b="0" lang="fr-FR" sz="2000" strike="noStrike" u="none">
                <a:solidFill>
                  <a:schemeClr val="dk1"/>
                </a:solidFill>
                <a:effectLst/>
                <a:uFillTx/>
                <a:latin typeface="Aptos"/>
              </a:rPr>
              <a:t>Cinquième niveau de plan</a:t>
            </a:r>
            <a:endParaRPr b="0" lang="fr-FR" sz="2000" strike="noStrike" u="none">
              <a:solidFill>
                <a:schemeClr val="dk1"/>
              </a:solidFill>
              <a:effectLst/>
              <a:uFillTx/>
              <a:latin typeface="Aptos"/>
            </a:endParaRPr>
          </a:p>
          <a:p>
            <a:pPr lvl="5" marL="2592000" indent="-216000">
              <a:spcBef>
                <a:spcPts val="283"/>
              </a:spcBef>
              <a:buClr>
                <a:srgbClr val="000000"/>
              </a:buClr>
              <a:buSzPct val="45000"/>
              <a:buFont typeface="Wingdings" charset="2"/>
              <a:buChar char=""/>
            </a:pPr>
            <a:r>
              <a:rPr b="0" lang="fr-FR" sz="2000" strike="noStrike" u="none">
                <a:solidFill>
                  <a:schemeClr val="dk1"/>
                </a:solidFill>
                <a:effectLst/>
                <a:uFillTx/>
                <a:latin typeface="Aptos"/>
              </a:rPr>
              <a:t>Sixième niveau de plan</a:t>
            </a:r>
            <a:endParaRPr b="0" lang="fr-FR" sz="2000" strike="noStrike" u="none">
              <a:solidFill>
                <a:schemeClr val="dk1"/>
              </a:solidFill>
              <a:effectLst/>
              <a:uFillTx/>
              <a:latin typeface="Aptos"/>
            </a:endParaRPr>
          </a:p>
          <a:p>
            <a:pPr lvl="6" marL="3024000" indent="-216000">
              <a:spcBef>
                <a:spcPts val="283"/>
              </a:spcBef>
              <a:buClr>
                <a:srgbClr val="000000"/>
              </a:buClr>
              <a:buSzPct val="45000"/>
              <a:buFont typeface="Wingdings" charset="2"/>
              <a:buChar char=""/>
            </a:pPr>
            <a:r>
              <a:rPr b="0" lang="fr-FR" sz="2000" strike="noStrike" u="none">
                <a:solidFill>
                  <a:schemeClr val="dk1"/>
                </a:solidFill>
                <a:effectLst/>
                <a:uFillTx/>
                <a:latin typeface="Aptos"/>
              </a:rPr>
              <a:t>Septième niveau de plan</a:t>
            </a:r>
            <a:endParaRPr b="0" lang="fr-FR" sz="2000" strike="noStrike" u="non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8fb"/>
        </a:solidFill>
      </p:bgPr>
    </p:bg>
    <p:spTree>
      <p:nvGrpSpPr>
        <p:cNvPr id="1" name=""/>
        <p:cNvGrpSpPr/>
        <p:nvPr/>
      </p:nvGrpSpPr>
      <p:grpSpPr>
        <a:xfrm>
          <a:off x="0" y="0"/>
          <a:ext cx="0" cy="0"/>
          <a:chOff x="0" y="0"/>
          <a:chExt cx="0" cy="0"/>
        </a:xfrm>
      </p:grpSpPr>
      <p:sp>
        <p:nvSpPr>
          <p:cNvPr id="8" name="Text 0"/>
          <p:cNvSpPr/>
          <p:nvPr/>
        </p:nvSpPr>
        <p:spPr>
          <a:xfrm>
            <a:off x="685800" y="960120"/>
            <a:ext cx="8229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800" strike="noStrike" u="none">
                <a:solidFill>
                  <a:srgbClr val="0f172a"/>
                </a:solidFill>
                <a:effectLst/>
                <a:uFillTx/>
                <a:latin typeface="Aptos"/>
              </a:rPr>
              <a:t>NYC Taxi Data Warehouse</a:t>
            </a:r>
            <a:endParaRPr b="0" lang="fr-FR" sz="3800" strike="noStrike" u="none">
              <a:solidFill>
                <a:srgbClr val="000000"/>
              </a:solidFill>
              <a:effectLst/>
              <a:uFillTx/>
              <a:latin typeface="Arial"/>
            </a:endParaRPr>
          </a:p>
        </p:txBody>
      </p:sp>
      <p:sp>
        <p:nvSpPr>
          <p:cNvPr id="9" name="Text 1"/>
          <p:cNvSpPr/>
          <p:nvPr/>
        </p:nvSpPr>
        <p:spPr>
          <a:xfrm>
            <a:off x="713160" y="160020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2563eb"/>
                </a:solidFill>
                <a:effectLst/>
                <a:uFillTx/>
                <a:latin typeface="Aptos"/>
              </a:rPr>
              <a:t>Snowflake • dbt Core • GitHub Actions • Streamlit</a:t>
            </a:r>
            <a:endParaRPr b="0" lang="fr-FR" sz="1800" strike="noStrike" u="none">
              <a:solidFill>
                <a:srgbClr val="000000"/>
              </a:solidFill>
              <a:effectLst/>
              <a:uFillTx/>
              <a:latin typeface="Arial"/>
            </a:endParaRPr>
          </a:p>
        </p:txBody>
      </p:sp>
      <p:sp>
        <p:nvSpPr>
          <p:cNvPr id="10" name="Text 2"/>
          <p:cNvSpPr/>
          <p:nvPr/>
        </p:nvSpPr>
        <p:spPr>
          <a:xfrm>
            <a:off x="713160" y="2148840"/>
            <a:ext cx="6491880" cy="6854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800" strike="noStrike" u="none">
                <a:solidFill>
                  <a:srgbClr val="475569"/>
                </a:solidFill>
                <a:effectLst/>
                <a:uFillTx/>
                <a:latin typeface="Aptos"/>
              </a:rPr>
              <a:t>Objectif : transformer 12 mois de données taxis NYC en tables analytiques fiables et en dashboard interactif.</a:t>
            </a:r>
            <a:endParaRPr b="0" lang="fr-FR" sz="1800" strike="noStrike" u="none">
              <a:solidFill>
                <a:srgbClr val="000000"/>
              </a:solidFill>
              <a:effectLst/>
              <a:uFillTx/>
              <a:latin typeface="Arial"/>
            </a:endParaRPr>
          </a:p>
        </p:txBody>
      </p:sp>
      <p:sp>
        <p:nvSpPr>
          <p:cNvPr id="11" name="Text 3"/>
          <p:cNvSpPr/>
          <p:nvPr/>
        </p:nvSpPr>
        <p:spPr>
          <a:xfrm>
            <a:off x="731520" y="3749040"/>
            <a:ext cx="19198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2563eb"/>
                </a:solidFill>
                <a:effectLst/>
                <a:uFillTx/>
                <a:latin typeface="Aptos"/>
              </a:rPr>
              <a:t>48,7 M</a:t>
            </a:r>
            <a:endParaRPr b="0" lang="fr-FR" sz="2600" strike="noStrike" u="none">
              <a:solidFill>
                <a:srgbClr val="000000"/>
              </a:solidFill>
              <a:effectLst/>
              <a:uFillTx/>
              <a:latin typeface="Arial"/>
            </a:endParaRPr>
          </a:p>
        </p:txBody>
      </p:sp>
      <p:sp>
        <p:nvSpPr>
          <p:cNvPr id="12" name="Text 4"/>
          <p:cNvSpPr/>
          <p:nvPr/>
        </p:nvSpPr>
        <p:spPr>
          <a:xfrm>
            <a:off x="731520" y="4187880"/>
            <a:ext cx="1919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lignes RAW</a:t>
            </a:r>
            <a:endParaRPr b="0" lang="fr-FR" sz="1100" strike="noStrike" u="none">
              <a:solidFill>
                <a:srgbClr val="000000"/>
              </a:solidFill>
              <a:effectLst/>
              <a:uFillTx/>
              <a:latin typeface="Arial"/>
            </a:endParaRPr>
          </a:p>
        </p:txBody>
      </p:sp>
      <p:sp>
        <p:nvSpPr>
          <p:cNvPr id="13" name="Text 5"/>
          <p:cNvSpPr/>
          <p:nvPr/>
        </p:nvSpPr>
        <p:spPr>
          <a:xfrm>
            <a:off x="2926080" y="3749040"/>
            <a:ext cx="210276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16a34a"/>
                </a:solidFill>
                <a:effectLst/>
                <a:uFillTx/>
                <a:latin typeface="Aptos"/>
              </a:rPr>
              <a:t>44,2 M</a:t>
            </a:r>
            <a:endParaRPr b="0" lang="fr-FR" sz="2600" strike="noStrike" u="none">
              <a:solidFill>
                <a:srgbClr val="000000"/>
              </a:solidFill>
              <a:effectLst/>
              <a:uFillTx/>
              <a:latin typeface="Arial"/>
            </a:endParaRPr>
          </a:p>
        </p:txBody>
      </p:sp>
      <p:sp>
        <p:nvSpPr>
          <p:cNvPr id="14" name="Text 6"/>
          <p:cNvSpPr/>
          <p:nvPr/>
        </p:nvSpPr>
        <p:spPr>
          <a:xfrm>
            <a:off x="2926080" y="4187880"/>
            <a:ext cx="21027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trajets conservés</a:t>
            </a:r>
            <a:endParaRPr b="0" lang="fr-FR" sz="1100" strike="noStrike" u="none">
              <a:solidFill>
                <a:srgbClr val="000000"/>
              </a:solidFill>
              <a:effectLst/>
              <a:uFillTx/>
              <a:latin typeface="Arial"/>
            </a:endParaRPr>
          </a:p>
        </p:txBody>
      </p:sp>
      <p:sp>
        <p:nvSpPr>
          <p:cNvPr id="15" name="Text 7"/>
          <p:cNvSpPr/>
          <p:nvPr/>
        </p:nvSpPr>
        <p:spPr>
          <a:xfrm>
            <a:off x="5349240" y="3749040"/>
            <a:ext cx="173700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f59e0b"/>
                </a:solidFill>
                <a:effectLst/>
                <a:uFillTx/>
                <a:latin typeface="Aptos"/>
              </a:rPr>
              <a:t>37</a:t>
            </a:r>
            <a:endParaRPr b="0" lang="fr-FR" sz="2600" strike="noStrike" u="none">
              <a:solidFill>
                <a:srgbClr val="000000"/>
              </a:solidFill>
              <a:effectLst/>
              <a:uFillTx/>
              <a:latin typeface="Arial"/>
            </a:endParaRPr>
          </a:p>
        </p:txBody>
      </p:sp>
      <p:sp>
        <p:nvSpPr>
          <p:cNvPr id="16" name="Text 8"/>
          <p:cNvSpPr/>
          <p:nvPr/>
        </p:nvSpPr>
        <p:spPr>
          <a:xfrm>
            <a:off x="5349240" y="4187880"/>
            <a:ext cx="17370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tests dbt PASS</a:t>
            </a:r>
            <a:endParaRPr b="0" lang="fr-FR" sz="1100" strike="noStrike" u="none">
              <a:solidFill>
                <a:srgbClr val="000000"/>
              </a:solidFill>
              <a:effectLst/>
              <a:uFillTx/>
              <a:latin typeface="Arial"/>
            </a:endParaRPr>
          </a:p>
        </p:txBody>
      </p:sp>
      <p:sp>
        <p:nvSpPr>
          <p:cNvPr id="17" name="Text 9"/>
          <p:cNvSpPr/>
          <p:nvPr/>
        </p:nvSpPr>
        <p:spPr>
          <a:xfrm>
            <a:off x="7360920" y="3749040"/>
            <a:ext cx="155412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fr-FR" sz="1800" strike="noStrike" u="none">
              <a:solidFill>
                <a:srgbClr val="000000"/>
              </a:solidFill>
              <a:effectLst/>
              <a:uFillTx/>
              <a:latin typeface="Arial"/>
            </a:endParaRPr>
          </a:p>
        </p:txBody>
      </p:sp>
      <p:sp>
        <p:nvSpPr>
          <p:cNvPr id="18" name="Text 10"/>
          <p:cNvSpPr/>
          <p:nvPr/>
        </p:nvSpPr>
        <p:spPr>
          <a:xfrm>
            <a:off x="7360920" y="4187880"/>
            <a:ext cx="15541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fr-FR" sz="1800" strike="noStrike" u="none">
              <a:solidFill>
                <a:srgbClr val="000000"/>
              </a:solidFill>
              <a:effectLst/>
              <a:uFillTx/>
              <a:latin typeface="Arial"/>
            </a:endParaRPr>
          </a:p>
        </p:txBody>
      </p:sp>
      <p:sp>
        <p:nvSpPr>
          <p:cNvPr id="19" name="Shape 11"/>
          <p:cNvSpPr/>
          <p:nvPr/>
        </p:nvSpPr>
        <p:spPr>
          <a:xfrm>
            <a:off x="749880" y="5193720"/>
            <a:ext cx="2331360" cy="328680"/>
          </a:xfrm>
          <a:prstGeom prst="roundRect">
            <a:avLst>
              <a:gd name="adj" fmla="val 25000"/>
            </a:avLst>
          </a:prstGeom>
          <a:solidFill>
            <a:srgbClr val="0f172a"/>
          </a:solidFill>
          <a:ln w="12700">
            <a:solidFill>
              <a:srgbClr val="0f172a"/>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20" name="Text 12"/>
          <p:cNvSpPr/>
          <p:nvPr/>
        </p:nvSpPr>
        <p:spPr>
          <a:xfrm>
            <a:off x="795600" y="5276160"/>
            <a:ext cx="22399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ffffff"/>
                </a:solidFill>
                <a:effectLst/>
                <a:uFillTx/>
                <a:latin typeface="Aptos"/>
              </a:rPr>
              <a:t>RAW → STAGING → FINAL</a:t>
            </a:r>
            <a:endParaRPr b="0" lang="fr-FR" sz="1050" strike="noStrike" u="none">
              <a:solidFill>
                <a:srgbClr val="000000"/>
              </a:solidFill>
              <a:effectLst/>
              <a:uFillTx/>
              <a:latin typeface="Arial"/>
            </a:endParaRPr>
          </a:p>
        </p:txBody>
      </p:sp>
      <p:sp>
        <p:nvSpPr>
          <p:cNvPr id="21" name="Shape 13"/>
          <p:cNvSpPr/>
          <p:nvPr/>
        </p:nvSpPr>
        <p:spPr>
          <a:xfrm>
            <a:off x="3246120" y="5193720"/>
            <a:ext cx="1645560" cy="328680"/>
          </a:xfrm>
          <a:prstGeom prst="roundRect">
            <a:avLst>
              <a:gd name="adj" fmla="val 25000"/>
            </a:avLst>
          </a:prstGeom>
          <a:solidFill>
            <a:srgbClr val="2563eb"/>
          </a:solidFill>
          <a:ln w="12700">
            <a:solidFill>
              <a:srgbClr val="2563eb"/>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22" name="Text 14"/>
          <p:cNvSpPr/>
          <p:nvPr/>
        </p:nvSpPr>
        <p:spPr>
          <a:xfrm>
            <a:off x="3291840" y="5276160"/>
            <a:ext cx="15541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ffffff"/>
                </a:solidFill>
                <a:effectLst/>
                <a:uFillTx/>
                <a:latin typeface="Aptos"/>
              </a:rPr>
              <a:t>Qualité + KPIs</a:t>
            </a:r>
            <a:endParaRPr b="0" lang="fr-FR" sz="1050" strike="noStrike" u="none">
              <a:solidFill>
                <a:srgbClr val="000000"/>
              </a:solidFill>
              <a:effectLst/>
              <a:uFillTx/>
              <a:latin typeface="Arial"/>
            </a:endParaRPr>
          </a:p>
        </p:txBody>
      </p:sp>
      <p:sp>
        <p:nvSpPr>
          <p:cNvPr id="23" name="Shape 15"/>
          <p:cNvSpPr/>
          <p:nvPr/>
        </p:nvSpPr>
        <p:spPr>
          <a:xfrm>
            <a:off x="5074920" y="5193720"/>
            <a:ext cx="1919880" cy="328680"/>
          </a:xfrm>
          <a:prstGeom prst="roundRect">
            <a:avLst>
              <a:gd name="adj" fmla="val 25000"/>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sp>
        <p:nvSpPr>
          <p:cNvPr id="24" name="Text 16"/>
          <p:cNvSpPr/>
          <p:nvPr/>
        </p:nvSpPr>
        <p:spPr>
          <a:xfrm>
            <a:off x="5120640" y="5276160"/>
            <a:ext cx="18284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ffffff"/>
                </a:solidFill>
                <a:effectLst/>
                <a:uFillTx/>
                <a:latin typeface="Aptos"/>
              </a:rPr>
              <a:t>CI/CD + Dashboard</a:t>
            </a:r>
            <a:endParaRPr b="0" lang="fr-FR" sz="1050" strike="noStrike" u="none">
              <a:solidFill>
                <a:srgbClr val="000000"/>
              </a:solidFill>
              <a:effectLst/>
              <a:uFillTx/>
              <a:latin typeface="Arial"/>
            </a:endParaRPr>
          </a:p>
        </p:txBody>
      </p:sp>
      <p:sp>
        <p:nvSpPr>
          <p:cNvPr id="25" name="Text 17"/>
          <p:cNvSpPr/>
          <p:nvPr/>
        </p:nvSpPr>
        <p:spPr>
          <a:xfrm>
            <a:off x="731520" y="5897880"/>
            <a:ext cx="3840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475569"/>
                </a:solidFill>
                <a:effectLst/>
                <a:uFillTx/>
                <a:latin typeface="Aptos"/>
              </a:rPr>
              <a:t>Marie Antoinette Kilo</a:t>
            </a:r>
            <a:endParaRPr b="0" lang="fr-FR" sz="1300" strike="noStrike" u="none">
              <a:solidFill>
                <a:srgbClr val="000000"/>
              </a:solidFill>
              <a:effectLst/>
              <a:uFillTx/>
              <a:latin typeface="Arial"/>
            </a:endParaRPr>
          </a:p>
        </p:txBody>
      </p:sp>
      <p:sp>
        <p:nvSpPr>
          <p:cNvPr id="26" name="Text 18"/>
          <p:cNvSpPr/>
          <p:nvPr/>
        </p:nvSpPr>
        <p:spPr>
          <a:xfrm>
            <a:off x="502920" y="6473880"/>
            <a:ext cx="4571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64748b"/>
                </a:solidFill>
                <a:effectLst/>
                <a:uFillTx/>
                <a:latin typeface="Aptos"/>
              </a:rPr>
              <a:t>Soutenance NYC Taxi Data Warehouse • 1/5</a:t>
            </a:r>
            <a:endParaRPr b="0" lang="fr-FR"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8fb"/>
        </a:solidFill>
      </p:bgPr>
    </p:bg>
    <p:spTree>
      <p:nvGrpSpPr>
        <p:cNvPr id="1" name=""/>
        <p:cNvGrpSpPr/>
        <p:nvPr/>
      </p:nvGrpSpPr>
      <p:grpSpPr>
        <a:xfrm>
          <a:off x="0" y="0"/>
          <a:ext cx="0" cy="0"/>
          <a:chOff x="0" y="0"/>
          <a:chExt cx="0" cy="0"/>
        </a:xfrm>
      </p:grpSpPr>
      <p:sp>
        <p:nvSpPr>
          <p:cNvPr id="27" name="Text 0"/>
          <p:cNvSpPr/>
          <p:nvPr/>
        </p:nvSpPr>
        <p:spPr>
          <a:xfrm>
            <a:off x="502920" y="320040"/>
            <a:ext cx="81378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100" strike="noStrike" u="none">
                <a:solidFill>
                  <a:srgbClr val="0f172a"/>
                </a:solidFill>
                <a:effectLst/>
                <a:uFillTx/>
                <a:latin typeface="Aptos Display"/>
                <a:ea typeface="Aptos Display"/>
              </a:rPr>
              <a:t>Architecture du Data Warehouse</a:t>
            </a:r>
            <a:endParaRPr b="0" lang="fr-FR" sz="3100" strike="noStrike" u="none">
              <a:solidFill>
                <a:srgbClr val="000000"/>
              </a:solidFill>
              <a:effectLst/>
              <a:uFillTx/>
              <a:latin typeface="Arial"/>
            </a:endParaRPr>
          </a:p>
        </p:txBody>
      </p:sp>
      <p:sp>
        <p:nvSpPr>
          <p:cNvPr id="28" name="Text 1"/>
          <p:cNvSpPr/>
          <p:nvPr/>
        </p:nvSpPr>
        <p:spPr>
          <a:xfrm>
            <a:off x="530280" y="786240"/>
            <a:ext cx="804636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trike="noStrike" u="none">
                <a:solidFill>
                  <a:srgbClr val="475569"/>
                </a:solidFill>
                <a:effectLst/>
                <a:uFillTx/>
                <a:latin typeface="Aptos"/>
              </a:rPr>
              <a:t>Une séparation claire entre données brutes, transformations et usages analytiques</a:t>
            </a:r>
            <a:endParaRPr b="0" lang="fr-FR" sz="1250" strike="noStrike" u="none">
              <a:solidFill>
                <a:srgbClr val="000000"/>
              </a:solidFill>
              <a:effectLst/>
              <a:uFillTx/>
              <a:latin typeface="Arial"/>
            </a:endParaRPr>
          </a:p>
        </p:txBody>
      </p:sp>
      <p:sp>
        <p:nvSpPr>
          <p:cNvPr id="29" name="Shape 2"/>
          <p:cNvSpPr/>
          <p:nvPr/>
        </p:nvSpPr>
        <p:spPr>
          <a:xfrm>
            <a:off x="502920" y="1124640"/>
            <a:ext cx="11155680" cy="360"/>
          </a:xfrm>
          <a:prstGeom prst="line">
            <a:avLst/>
          </a:prstGeom>
          <a:ln w="12700">
            <a:solidFill>
              <a:srgbClr val="e2e8f0"/>
            </a:solidFill>
            <a:roun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30" name="Shape 3"/>
          <p:cNvSpPr/>
          <p:nvPr/>
        </p:nvSpPr>
        <p:spPr>
          <a:xfrm>
            <a:off x="594360" y="2011680"/>
            <a:ext cx="1828440" cy="914040"/>
          </a:xfrm>
          <a:prstGeom prst="roundRect">
            <a:avLst>
              <a:gd name="adj" fmla="val 8000"/>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1" name="Text 4"/>
          <p:cNvSpPr/>
          <p:nvPr/>
        </p:nvSpPr>
        <p:spPr>
          <a:xfrm>
            <a:off x="685800" y="2148840"/>
            <a:ext cx="164556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Fichiers Parquet</a:t>
            </a:r>
            <a:endParaRPr b="0" lang="fr-FR" sz="1500" strike="noStrike" u="none">
              <a:solidFill>
                <a:srgbClr val="000000"/>
              </a:solidFill>
              <a:effectLst/>
              <a:uFillTx/>
              <a:latin typeface="Arial"/>
            </a:endParaRPr>
          </a:p>
        </p:txBody>
      </p:sp>
      <p:sp>
        <p:nvSpPr>
          <p:cNvPr id="32" name="Text 5"/>
          <p:cNvSpPr/>
          <p:nvPr/>
        </p:nvSpPr>
        <p:spPr>
          <a:xfrm>
            <a:off x="685800" y="2450520"/>
            <a:ext cx="16455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475569"/>
                </a:solidFill>
                <a:effectLst/>
                <a:uFillTx/>
                <a:latin typeface="Aptos"/>
              </a:rPr>
              <a:t>12 mois NYC Yellow Taxi 2025</a:t>
            </a:r>
            <a:endParaRPr b="0" lang="fr-FR" sz="1050" strike="noStrike" u="none">
              <a:solidFill>
                <a:srgbClr val="000000"/>
              </a:solidFill>
              <a:effectLst/>
              <a:uFillTx/>
              <a:latin typeface="Arial"/>
            </a:endParaRPr>
          </a:p>
        </p:txBody>
      </p:sp>
      <p:sp>
        <p:nvSpPr>
          <p:cNvPr id="33" name="Shape 6"/>
          <p:cNvSpPr/>
          <p:nvPr/>
        </p:nvSpPr>
        <p:spPr>
          <a:xfrm>
            <a:off x="2788920" y="2011680"/>
            <a:ext cx="1828440" cy="914040"/>
          </a:xfrm>
          <a:prstGeom prst="roundRect">
            <a:avLst>
              <a:gd name="adj" fmla="val 8000"/>
            </a:avLst>
          </a:prstGeom>
          <a:solidFill>
            <a:srgbClr val="eff6ff"/>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4" name="Text 7"/>
          <p:cNvSpPr/>
          <p:nvPr/>
        </p:nvSpPr>
        <p:spPr>
          <a:xfrm>
            <a:off x="2880360" y="2148840"/>
            <a:ext cx="164556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Internal Stage</a:t>
            </a:r>
            <a:endParaRPr b="0" lang="fr-FR" sz="1500" strike="noStrike" u="none">
              <a:solidFill>
                <a:srgbClr val="000000"/>
              </a:solidFill>
              <a:effectLst/>
              <a:uFillTx/>
              <a:latin typeface="Arial"/>
            </a:endParaRPr>
          </a:p>
        </p:txBody>
      </p:sp>
      <p:sp>
        <p:nvSpPr>
          <p:cNvPr id="35" name="Text 8"/>
          <p:cNvSpPr/>
          <p:nvPr/>
        </p:nvSpPr>
        <p:spPr>
          <a:xfrm>
            <a:off x="2880360" y="2450520"/>
            <a:ext cx="16455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475569"/>
                </a:solidFill>
                <a:effectLst/>
                <a:uFillTx/>
                <a:latin typeface="Aptos"/>
              </a:rPr>
              <a:t>RAW.NYC_TAXI_STAGE</a:t>
            </a:r>
            <a:endParaRPr b="0" lang="fr-FR" sz="1050" strike="noStrike" u="none">
              <a:solidFill>
                <a:srgbClr val="000000"/>
              </a:solidFill>
              <a:effectLst/>
              <a:uFillTx/>
              <a:latin typeface="Arial"/>
            </a:endParaRPr>
          </a:p>
        </p:txBody>
      </p:sp>
      <p:sp>
        <p:nvSpPr>
          <p:cNvPr id="36" name="Shape 9"/>
          <p:cNvSpPr/>
          <p:nvPr/>
        </p:nvSpPr>
        <p:spPr>
          <a:xfrm>
            <a:off x="4983480" y="2011680"/>
            <a:ext cx="1874160" cy="914040"/>
          </a:xfrm>
          <a:prstGeom prst="roundRect">
            <a:avLst>
              <a:gd name="adj" fmla="val 8000"/>
            </a:avLst>
          </a:prstGeom>
          <a:solidFill>
            <a:srgbClr val="dbeafe"/>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37" name="Text 10"/>
          <p:cNvSpPr/>
          <p:nvPr/>
        </p:nvSpPr>
        <p:spPr>
          <a:xfrm>
            <a:off x="5074920" y="2148840"/>
            <a:ext cx="16912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RAW</a:t>
            </a:r>
            <a:endParaRPr b="0" lang="fr-FR" sz="1500" strike="noStrike" u="none">
              <a:solidFill>
                <a:srgbClr val="000000"/>
              </a:solidFill>
              <a:effectLst/>
              <a:uFillTx/>
              <a:latin typeface="Arial"/>
            </a:endParaRPr>
          </a:p>
        </p:txBody>
      </p:sp>
      <p:sp>
        <p:nvSpPr>
          <p:cNvPr id="38" name="Text 11"/>
          <p:cNvSpPr/>
          <p:nvPr/>
        </p:nvSpPr>
        <p:spPr>
          <a:xfrm>
            <a:off x="5074920" y="2450520"/>
            <a:ext cx="1691280" cy="38376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0" lang="en-US" sz="1050" strike="noStrike" u="none">
                <a:solidFill>
                  <a:srgbClr val="475569"/>
                </a:solidFill>
                <a:effectLst/>
                <a:uFillTx/>
                <a:latin typeface="Aptos"/>
              </a:rPr>
              <a:t>données brutes non modifiées</a:t>
            </a:r>
            <a:endParaRPr b="0" lang="fr-FR" sz="105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475569"/>
                </a:solidFill>
                <a:effectLst/>
                <a:uFillTx/>
                <a:latin typeface="Aptos"/>
              </a:rPr>
              <a:t>48 722 602 lignes</a:t>
            </a:r>
            <a:endParaRPr b="0" lang="fr-FR" sz="1050" strike="noStrike" u="none">
              <a:solidFill>
                <a:srgbClr val="000000"/>
              </a:solidFill>
              <a:effectLst/>
              <a:uFillTx/>
              <a:latin typeface="Arial"/>
            </a:endParaRPr>
          </a:p>
        </p:txBody>
      </p:sp>
      <p:sp>
        <p:nvSpPr>
          <p:cNvPr id="39" name="Shape 12"/>
          <p:cNvSpPr/>
          <p:nvPr/>
        </p:nvSpPr>
        <p:spPr>
          <a:xfrm>
            <a:off x="7223760" y="2011680"/>
            <a:ext cx="1874160" cy="914040"/>
          </a:xfrm>
          <a:prstGeom prst="roundRect">
            <a:avLst>
              <a:gd name="adj" fmla="val 8000"/>
            </a:avLst>
          </a:prstGeom>
          <a:solidFill>
            <a:srgbClr val="dcfce7"/>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40" name="Text 13"/>
          <p:cNvSpPr/>
          <p:nvPr/>
        </p:nvSpPr>
        <p:spPr>
          <a:xfrm>
            <a:off x="7315200" y="2148840"/>
            <a:ext cx="169128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STAGING</a:t>
            </a:r>
            <a:endParaRPr b="0" lang="fr-FR" sz="1500" strike="noStrike" u="none">
              <a:solidFill>
                <a:srgbClr val="000000"/>
              </a:solidFill>
              <a:effectLst/>
              <a:uFillTx/>
              <a:latin typeface="Arial"/>
            </a:endParaRPr>
          </a:p>
        </p:txBody>
      </p:sp>
      <p:sp>
        <p:nvSpPr>
          <p:cNvPr id="41" name="Text 14"/>
          <p:cNvSpPr/>
          <p:nvPr/>
        </p:nvSpPr>
        <p:spPr>
          <a:xfrm>
            <a:off x="7315200" y="2450520"/>
            <a:ext cx="1691280" cy="38376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0" lang="en-US" sz="1050" strike="noStrike" u="none">
                <a:solidFill>
                  <a:srgbClr val="475569"/>
                </a:solidFill>
                <a:effectLst/>
                <a:uFillTx/>
                <a:latin typeface="Aptos"/>
              </a:rPr>
              <a:t>nettoyage + enrichissements</a:t>
            </a:r>
            <a:endParaRPr b="0" lang="fr-FR" sz="105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475569"/>
                </a:solidFill>
                <a:effectLst/>
                <a:uFillTx/>
                <a:latin typeface="Aptos"/>
              </a:rPr>
              <a:t>44 178 660 trajets</a:t>
            </a:r>
            <a:endParaRPr b="0" lang="fr-FR" sz="1050" strike="noStrike" u="none">
              <a:solidFill>
                <a:srgbClr val="000000"/>
              </a:solidFill>
              <a:effectLst/>
              <a:uFillTx/>
              <a:latin typeface="Arial"/>
            </a:endParaRPr>
          </a:p>
        </p:txBody>
      </p:sp>
      <p:sp>
        <p:nvSpPr>
          <p:cNvPr id="42" name="Shape 15"/>
          <p:cNvSpPr/>
          <p:nvPr/>
        </p:nvSpPr>
        <p:spPr>
          <a:xfrm>
            <a:off x="9464040" y="2011680"/>
            <a:ext cx="2057040" cy="914040"/>
          </a:xfrm>
          <a:prstGeom prst="roundRect">
            <a:avLst>
              <a:gd name="adj" fmla="val 8000"/>
            </a:avLst>
          </a:prstGeom>
          <a:solidFill>
            <a:srgbClr val="fef3c7"/>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43" name="Text 16"/>
          <p:cNvSpPr/>
          <p:nvPr/>
        </p:nvSpPr>
        <p:spPr>
          <a:xfrm>
            <a:off x="9555480" y="2148840"/>
            <a:ext cx="187416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FINAL</a:t>
            </a:r>
            <a:endParaRPr b="0" lang="fr-FR" sz="1500" strike="noStrike" u="none">
              <a:solidFill>
                <a:srgbClr val="000000"/>
              </a:solidFill>
              <a:effectLst/>
              <a:uFillTx/>
              <a:latin typeface="Arial"/>
            </a:endParaRPr>
          </a:p>
        </p:txBody>
      </p:sp>
      <p:sp>
        <p:nvSpPr>
          <p:cNvPr id="44" name="Text 17"/>
          <p:cNvSpPr/>
          <p:nvPr/>
        </p:nvSpPr>
        <p:spPr>
          <a:xfrm>
            <a:off x="9555480" y="2450520"/>
            <a:ext cx="18741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475569"/>
                </a:solidFill>
                <a:effectLst/>
                <a:uFillTx/>
                <a:latin typeface="Aptos"/>
              </a:rPr>
              <a:t>tables métiers</a:t>
            </a:r>
            <a:endParaRPr b="0" lang="fr-FR" sz="105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475569"/>
                </a:solidFill>
                <a:effectLst/>
                <a:uFillTx/>
                <a:latin typeface="Aptos"/>
              </a:rPr>
              <a:t>Daily • Zone • Hourly</a:t>
            </a:r>
            <a:endParaRPr b="0" lang="fr-FR" sz="1050" strike="noStrike" u="none">
              <a:solidFill>
                <a:srgbClr val="000000"/>
              </a:solidFill>
              <a:effectLst/>
              <a:uFillTx/>
              <a:latin typeface="Arial"/>
            </a:endParaRPr>
          </a:p>
        </p:txBody>
      </p:sp>
      <p:sp>
        <p:nvSpPr>
          <p:cNvPr id="45" name="Shape 18"/>
          <p:cNvSpPr/>
          <p:nvPr/>
        </p:nvSpPr>
        <p:spPr>
          <a:xfrm>
            <a:off x="2432160" y="2468880"/>
            <a:ext cx="33840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46" name="Shape 19"/>
          <p:cNvSpPr/>
          <p:nvPr/>
        </p:nvSpPr>
        <p:spPr>
          <a:xfrm>
            <a:off x="4626720" y="2468880"/>
            <a:ext cx="33840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47" name="Shape 20"/>
          <p:cNvSpPr/>
          <p:nvPr/>
        </p:nvSpPr>
        <p:spPr>
          <a:xfrm>
            <a:off x="6867000" y="2468880"/>
            <a:ext cx="33840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48" name="Shape 21"/>
          <p:cNvSpPr/>
          <p:nvPr/>
        </p:nvSpPr>
        <p:spPr>
          <a:xfrm>
            <a:off x="9107280" y="2468880"/>
            <a:ext cx="33840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49" name="Shape 22"/>
          <p:cNvSpPr/>
          <p:nvPr/>
        </p:nvSpPr>
        <p:spPr>
          <a:xfrm>
            <a:off x="868680" y="4160520"/>
            <a:ext cx="10469520" cy="1142640"/>
          </a:xfrm>
          <a:prstGeom prst="roundRect">
            <a:avLst>
              <a:gd name="adj" fmla="val 4000"/>
            </a:avLst>
          </a:prstGeom>
          <a:solidFill>
            <a:srgbClr val="ffffff"/>
          </a:solidFill>
          <a:ln w="12700">
            <a:solidFill>
              <a:srgbClr val="e2e8f0"/>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50" name="Text 23"/>
          <p:cNvSpPr/>
          <p:nvPr/>
        </p:nvSpPr>
        <p:spPr>
          <a:xfrm>
            <a:off x="1097280" y="4343400"/>
            <a:ext cx="28342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0f172a"/>
                </a:solidFill>
                <a:effectLst/>
                <a:uFillTx/>
                <a:latin typeface="Aptos"/>
              </a:rPr>
              <a:t>Pourquoi cette architecture ?</a:t>
            </a:r>
            <a:endParaRPr b="0" lang="fr-FR" sz="1800" strike="noStrike" u="none">
              <a:solidFill>
                <a:srgbClr val="000000"/>
              </a:solidFill>
              <a:effectLst/>
              <a:uFillTx/>
              <a:latin typeface="Arial"/>
            </a:endParaRPr>
          </a:p>
        </p:txBody>
      </p:sp>
      <p:sp>
        <p:nvSpPr>
          <p:cNvPr id="51" name="Text 24"/>
          <p:cNvSpPr/>
          <p:nvPr/>
        </p:nvSpPr>
        <p:spPr>
          <a:xfrm>
            <a:off x="4160520" y="4279320"/>
            <a:ext cx="6720480" cy="776880"/>
          </a:xfrm>
          <a:prstGeom prst="rect">
            <a:avLst/>
          </a:prstGeom>
          <a:noFill/>
          <a:ln w="0">
            <a:noFill/>
          </a:ln>
        </p:spPr>
        <p:style>
          <a:lnRef idx="0"/>
          <a:fillRef idx="0"/>
          <a:effectRef idx="0"/>
          <a:fontRef idx="minor"/>
        </p:style>
        <p:txBody>
          <a:bodyPr lIns="90000" rIns="90000" tIns="45000" bIns="45000" anchor="ctr">
            <a:normAutofit fontScale="92500" lnSpcReduction="19999"/>
          </a:bodyPr>
          <a:p>
            <a:pPr defTabSz="914400">
              <a:lnSpc>
                <a:spcPct val="100000"/>
              </a:lnSpc>
              <a:tabLst>
                <a:tab algn="l" pos="0"/>
              </a:tabLst>
            </a:pPr>
            <a:r>
              <a:rPr b="0" lang="en-US" sz="1500" strike="noStrike" u="none">
                <a:solidFill>
                  <a:srgbClr val="475569"/>
                </a:solidFill>
                <a:effectLst/>
                <a:uFillTx/>
                <a:latin typeface="Aptos"/>
              </a:rPr>
              <a:t>• Traçabilité : RAW reste la référence source</a:t>
            </a:r>
            <a:endParaRPr b="0" lang="fr-FR" sz="1500" strike="noStrike" u="none">
              <a:solidFill>
                <a:srgbClr val="000000"/>
              </a:solidFill>
              <a:effectLst/>
              <a:uFillTx/>
              <a:latin typeface="Arial"/>
            </a:endParaRPr>
          </a:p>
          <a:p>
            <a:pPr defTabSz="914400">
              <a:lnSpc>
                <a:spcPct val="100000"/>
              </a:lnSpc>
              <a:tabLst>
                <a:tab algn="l" pos="0"/>
              </a:tabLst>
            </a:pPr>
            <a:r>
              <a:rPr b="0" lang="en-US" sz="1500" strike="noStrike" u="none">
                <a:solidFill>
                  <a:srgbClr val="475569"/>
                </a:solidFill>
                <a:effectLst/>
                <a:uFillTx/>
                <a:latin typeface="Aptos"/>
              </a:rPr>
              <a:t>• Qualité : STAGING centralise les règles de nettoyage</a:t>
            </a:r>
            <a:endParaRPr b="0" lang="fr-FR" sz="1500" strike="noStrike" u="none">
              <a:solidFill>
                <a:srgbClr val="000000"/>
              </a:solidFill>
              <a:effectLst/>
              <a:uFillTx/>
              <a:latin typeface="Arial"/>
            </a:endParaRPr>
          </a:p>
          <a:p>
            <a:pPr defTabSz="914400">
              <a:lnSpc>
                <a:spcPct val="100000"/>
              </a:lnSpc>
              <a:tabLst>
                <a:tab algn="l" pos="0"/>
              </a:tabLst>
            </a:pPr>
            <a:r>
              <a:rPr b="0" lang="en-US" sz="1500" strike="noStrike" u="none">
                <a:solidFill>
                  <a:srgbClr val="475569"/>
                </a:solidFill>
                <a:effectLst/>
                <a:uFillTx/>
                <a:latin typeface="Aptos"/>
              </a:rPr>
              <a:t>• Usage métier : FINAL expose des tables simples pour dashboard et analyse</a:t>
            </a:r>
            <a:endParaRPr b="0" lang="fr-FR" sz="1500" strike="noStrike" u="none">
              <a:solidFill>
                <a:srgbClr val="000000"/>
              </a:solidFill>
              <a:effectLst/>
              <a:uFillTx/>
              <a:latin typeface="Arial"/>
            </a:endParaRPr>
          </a:p>
        </p:txBody>
      </p:sp>
      <p:sp>
        <p:nvSpPr>
          <p:cNvPr id="52" name="Text 25"/>
          <p:cNvSpPr/>
          <p:nvPr/>
        </p:nvSpPr>
        <p:spPr>
          <a:xfrm>
            <a:off x="502920" y="6473880"/>
            <a:ext cx="4571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64748b"/>
                </a:solidFill>
                <a:effectLst/>
                <a:uFillTx/>
                <a:latin typeface="Aptos"/>
              </a:rPr>
              <a:t>Soutenance NYC Taxi Data Warehouse • 2/5</a:t>
            </a:r>
            <a:endParaRPr b="0" lang="fr-FR"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8fb"/>
        </a:solidFill>
      </p:bgPr>
    </p:bg>
    <p:spTree>
      <p:nvGrpSpPr>
        <p:cNvPr id="1" name=""/>
        <p:cNvGrpSpPr/>
        <p:nvPr/>
      </p:nvGrpSpPr>
      <p:grpSpPr>
        <a:xfrm>
          <a:off x="0" y="0"/>
          <a:ext cx="0" cy="0"/>
          <a:chOff x="0" y="0"/>
          <a:chExt cx="0" cy="0"/>
        </a:xfrm>
      </p:grpSpPr>
      <p:sp>
        <p:nvSpPr>
          <p:cNvPr id="53" name="Text 0"/>
          <p:cNvSpPr/>
          <p:nvPr/>
        </p:nvSpPr>
        <p:spPr>
          <a:xfrm>
            <a:off x="540000" y="443160"/>
            <a:ext cx="10800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100" strike="noStrike" u="none">
                <a:solidFill>
                  <a:srgbClr val="0f172a"/>
                </a:solidFill>
                <a:effectLst/>
                <a:uFillTx/>
                <a:latin typeface="Aptos Display"/>
                <a:ea typeface="Aptos Display"/>
              </a:rPr>
              <a:t>Qualité des données et transformations</a:t>
            </a:r>
            <a:endParaRPr b="0" lang="fr-FR" sz="3100" strike="noStrike" u="none">
              <a:solidFill>
                <a:srgbClr val="000000"/>
              </a:solidFill>
              <a:effectLst/>
              <a:uFillTx/>
              <a:latin typeface="Arial"/>
            </a:endParaRPr>
          </a:p>
        </p:txBody>
      </p:sp>
      <p:sp>
        <p:nvSpPr>
          <p:cNvPr id="54" name="Text 1"/>
          <p:cNvSpPr/>
          <p:nvPr/>
        </p:nvSpPr>
        <p:spPr>
          <a:xfrm>
            <a:off x="593640" y="1124640"/>
            <a:ext cx="804636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trike="noStrike" u="none">
                <a:solidFill>
                  <a:srgbClr val="475569"/>
                </a:solidFill>
                <a:effectLst/>
                <a:uFillTx/>
                <a:latin typeface="Aptos"/>
              </a:rPr>
              <a:t>Des règles explicites pour produire des indicateurs fiables</a:t>
            </a:r>
            <a:endParaRPr b="0" lang="fr-FR" sz="1250" strike="noStrike" u="none">
              <a:solidFill>
                <a:srgbClr val="000000"/>
              </a:solidFill>
              <a:effectLst/>
              <a:uFillTx/>
              <a:latin typeface="Arial"/>
            </a:endParaRPr>
          </a:p>
        </p:txBody>
      </p:sp>
      <p:sp>
        <p:nvSpPr>
          <p:cNvPr id="55" name="Shape 2"/>
          <p:cNvSpPr/>
          <p:nvPr/>
        </p:nvSpPr>
        <p:spPr>
          <a:xfrm>
            <a:off x="502920" y="1124640"/>
            <a:ext cx="11155680" cy="360"/>
          </a:xfrm>
          <a:prstGeom prst="line">
            <a:avLst/>
          </a:prstGeom>
          <a:ln w="12700">
            <a:solidFill>
              <a:srgbClr val="e2e8f0"/>
            </a:solidFill>
            <a:roun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56" name="Text 3"/>
          <p:cNvSpPr/>
          <p:nvPr/>
        </p:nvSpPr>
        <p:spPr>
          <a:xfrm>
            <a:off x="685800" y="1508760"/>
            <a:ext cx="19198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dc2626"/>
                </a:solidFill>
                <a:effectLst/>
                <a:uFillTx/>
                <a:latin typeface="Aptos"/>
              </a:rPr>
              <a:t>9,326 %</a:t>
            </a:r>
            <a:endParaRPr b="0" lang="fr-FR" sz="2600" strike="noStrike" u="none">
              <a:solidFill>
                <a:srgbClr val="000000"/>
              </a:solidFill>
              <a:effectLst/>
              <a:uFillTx/>
              <a:latin typeface="Arial"/>
            </a:endParaRPr>
          </a:p>
        </p:txBody>
      </p:sp>
      <p:sp>
        <p:nvSpPr>
          <p:cNvPr id="57" name="Text 4"/>
          <p:cNvSpPr/>
          <p:nvPr/>
        </p:nvSpPr>
        <p:spPr>
          <a:xfrm>
            <a:off x="685800" y="1947600"/>
            <a:ext cx="1919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taux de rejet</a:t>
            </a:r>
            <a:endParaRPr b="0" lang="fr-FR" sz="1100" strike="noStrike" u="none">
              <a:solidFill>
                <a:srgbClr val="000000"/>
              </a:solidFill>
              <a:effectLst/>
              <a:uFillTx/>
              <a:latin typeface="Arial"/>
            </a:endParaRPr>
          </a:p>
        </p:txBody>
      </p:sp>
      <p:sp>
        <p:nvSpPr>
          <p:cNvPr id="58" name="Text 5"/>
          <p:cNvSpPr/>
          <p:nvPr/>
        </p:nvSpPr>
        <p:spPr>
          <a:xfrm>
            <a:off x="2880360" y="1508760"/>
            <a:ext cx="19198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f59e0b"/>
                </a:solidFill>
                <a:effectLst/>
                <a:uFillTx/>
                <a:latin typeface="Aptos"/>
              </a:rPr>
              <a:t>4,54 M</a:t>
            </a:r>
            <a:endParaRPr b="0" lang="fr-FR" sz="2600" strike="noStrike" u="none">
              <a:solidFill>
                <a:srgbClr val="000000"/>
              </a:solidFill>
              <a:effectLst/>
              <a:uFillTx/>
              <a:latin typeface="Arial"/>
            </a:endParaRPr>
          </a:p>
        </p:txBody>
      </p:sp>
      <p:sp>
        <p:nvSpPr>
          <p:cNvPr id="59" name="Text 6"/>
          <p:cNvSpPr/>
          <p:nvPr/>
        </p:nvSpPr>
        <p:spPr>
          <a:xfrm>
            <a:off x="2880360" y="1947600"/>
            <a:ext cx="1919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lignes rejetées</a:t>
            </a:r>
            <a:endParaRPr b="0" lang="fr-FR" sz="1100" strike="noStrike" u="none">
              <a:solidFill>
                <a:srgbClr val="000000"/>
              </a:solidFill>
              <a:effectLst/>
              <a:uFillTx/>
              <a:latin typeface="Arial"/>
            </a:endParaRPr>
          </a:p>
        </p:txBody>
      </p:sp>
      <p:sp>
        <p:nvSpPr>
          <p:cNvPr id="60" name="Text 7"/>
          <p:cNvSpPr/>
          <p:nvPr/>
        </p:nvSpPr>
        <p:spPr>
          <a:xfrm>
            <a:off x="5074920" y="1508760"/>
            <a:ext cx="155412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2563eb"/>
                </a:solidFill>
                <a:effectLst/>
                <a:uFillTx/>
                <a:latin typeface="Aptos"/>
              </a:rPr>
              <a:t>365</a:t>
            </a:r>
            <a:endParaRPr b="0" lang="fr-FR" sz="2600" strike="noStrike" u="none">
              <a:solidFill>
                <a:srgbClr val="000000"/>
              </a:solidFill>
              <a:effectLst/>
              <a:uFillTx/>
              <a:latin typeface="Arial"/>
            </a:endParaRPr>
          </a:p>
        </p:txBody>
      </p:sp>
      <p:sp>
        <p:nvSpPr>
          <p:cNvPr id="61" name="Text 8"/>
          <p:cNvSpPr/>
          <p:nvPr/>
        </p:nvSpPr>
        <p:spPr>
          <a:xfrm>
            <a:off x="5074920" y="1947600"/>
            <a:ext cx="15541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jours analysés</a:t>
            </a:r>
            <a:endParaRPr b="0" lang="fr-FR" sz="1100" strike="noStrike" u="none">
              <a:solidFill>
                <a:srgbClr val="000000"/>
              </a:solidFill>
              <a:effectLst/>
              <a:uFillTx/>
              <a:latin typeface="Arial"/>
            </a:endParaRPr>
          </a:p>
        </p:txBody>
      </p:sp>
      <p:sp>
        <p:nvSpPr>
          <p:cNvPr id="62" name="Text 9"/>
          <p:cNvSpPr/>
          <p:nvPr/>
        </p:nvSpPr>
        <p:spPr>
          <a:xfrm>
            <a:off x="6949440" y="1508760"/>
            <a:ext cx="127980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16a34a"/>
                </a:solidFill>
                <a:effectLst/>
                <a:uFillTx/>
                <a:latin typeface="Aptos"/>
              </a:rPr>
              <a:t>262</a:t>
            </a:r>
            <a:endParaRPr b="0" lang="fr-FR" sz="2600" strike="noStrike" u="none">
              <a:solidFill>
                <a:srgbClr val="000000"/>
              </a:solidFill>
              <a:effectLst/>
              <a:uFillTx/>
              <a:latin typeface="Arial"/>
            </a:endParaRPr>
          </a:p>
        </p:txBody>
      </p:sp>
      <p:sp>
        <p:nvSpPr>
          <p:cNvPr id="63" name="Text 10"/>
          <p:cNvSpPr/>
          <p:nvPr/>
        </p:nvSpPr>
        <p:spPr>
          <a:xfrm>
            <a:off x="6949440" y="1947600"/>
            <a:ext cx="1279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zones</a:t>
            </a:r>
            <a:endParaRPr b="0" lang="fr-FR" sz="1100" strike="noStrike" u="none">
              <a:solidFill>
                <a:srgbClr val="000000"/>
              </a:solidFill>
              <a:effectLst/>
              <a:uFillTx/>
              <a:latin typeface="Arial"/>
            </a:endParaRPr>
          </a:p>
        </p:txBody>
      </p:sp>
      <p:sp>
        <p:nvSpPr>
          <p:cNvPr id="64" name="Text 11"/>
          <p:cNvSpPr/>
          <p:nvPr/>
        </p:nvSpPr>
        <p:spPr>
          <a:xfrm>
            <a:off x="8549640" y="1508760"/>
            <a:ext cx="164556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06b6d4"/>
                </a:solidFill>
                <a:effectLst/>
                <a:uFillTx/>
                <a:latin typeface="Aptos"/>
              </a:rPr>
              <a:t>48</a:t>
            </a:r>
            <a:endParaRPr b="0" lang="fr-FR" sz="2600" strike="noStrike" u="none">
              <a:solidFill>
                <a:srgbClr val="000000"/>
              </a:solidFill>
              <a:effectLst/>
              <a:uFillTx/>
              <a:latin typeface="Arial"/>
            </a:endParaRPr>
          </a:p>
        </p:txBody>
      </p:sp>
      <p:sp>
        <p:nvSpPr>
          <p:cNvPr id="65" name="Text 12"/>
          <p:cNvSpPr/>
          <p:nvPr/>
        </p:nvSpPr>
        <p:spPr>
          <a:xfrm>
            <a:off x="8549640" y="1947600"/>
            <a:ext cx="16455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patterns horaires</a:t>
            </a:r>
            <a:endParaRPr b="0" lang="fr-FR" sz="1100" strike="noStrike" u="none">
              <a:solidFill>
                <a:srgbClr val="000000"/>
              </a:solidFill>
              <a:effectLst/>
              <a:uFillTx/>
              <a:latin typeface="Arial"/>
            </a:endParaRPr>
          </a:p>
        </p:txBody>
      </p:sp>
      <p:sp>
        <p:nvSpPr>
          <p:cNvPr id="66" name="Text 13"/>
          <p:cNvSpPr/>
          <p:nvPr/>
        </p:nvSpPr>
        <p:spPr>
          <a:xfrm>
            <a:off x="685800" y="2926080"/>
            <a:ext cx="43887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0f172a"/>
                </a:solidFill>
                <a:effectLst/>
                <a:uFillTx/>
                <a:latin typeface="Aptos"/>
              </a:rPr>
              <a:t>Règles principales appliquées</a:t>
            </a:r>
            <a:endParaRPr b="0" lang="fr-FR" sz="2000" strike="noStrike" u="none">
              <a:solidFill>
                <a:srgbClr val="000000"/>
              </a:solidFill>
              <a:effectLst/>
              <a:uFillTx/>
              <a:latin typeface="Arial"/>
            </a:endParaRPr>
          </a:p>
        </p:txBody>
      </p:sp>
      <p:sp>
        <p:nvSpPr>
          <p:cNvPr id="67" name="Text 14"/>
          <p:cNvSpPr/>
          <p:nvPr/>
        </p:nvSpPr>
        <p:spPr>
          <a:xfrm>
            <a:off x="731520" y="3364920"/>
            <a:ext cx="4845960" cy="1416960"/>
          </a:xfrm>
          <a:prstGeom prst="rect">
            <a:avLst/>
          </a:prstGeom>
          <a:noFill/>
          <a:ln w="0">
            <a:noFill/>
          </a:ln>
        </p:spPr>
        <p:style>
          <a:lnRef idx="0"/>
          <a:fillRef idx="0"/>
          <a:effectRef idx="0"/>
          <a:fontRef idx="minor"/>
        </p:style>
        <p:txBody>
          <a:bodyPr lIns="90000" rIns="90000" tIns="45000" bIns="45000" anchor="ctr">
            <a:normAutofit/>
          </a:bodyPr>
          <a:p>
            <a:pPr defTabSz="914400">
              <a:lnSpc>
                <a:spcPct val="100000"/>
              </a:lnSpc>
              <a:tabLst>
                <a:tab algn="l" pos="0"/>
              </a:tabLst>
            </a:pPr>
            <a:r>
              <a:rPr b="0" lang="en-US" sz="1550" strike="noStrike" u="none">
                <a:solidFill>
                  <a:srgbClr val="475569"/>
                </a:solidFill>
                <a:effectLst/>
                <a:uFillTx/>
                <a:latin typeface="Aptos"/>
              </a:rPr>
              <a:t>• dates uniquement en 2025</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distance &gt; 0 et ≤ 1000 miles</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durée &gt; 0 et ≤ 24 heures</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montants financiers non négatifs</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NULL non critiques conservés et documentés</a:t>
            </a:r>
            <a:endParaRPr b="0" lang="fr-FR" sz="1550" strike="noStrike" u="none">
              <a:solidFill>
                <a:srgbClr val="000000"/>
              </a:solidFill>
              <a:effectLst/>
              <a:uFillTx/>
              <a:latin typeface="Arial"/>
            </a:endParaRPr>
          </a:p>
        </p:txBody>
      </p:sp>
      <p:sp>
        <p:nvSpPr>
          <p:cNvPr id="68" name="Text 15"/>
          <p:cNvSpPr/>
          <p:nvPr/>
        </p:nvSpPr>
        <p:spPr>
          <a:xfrm>
            <a:off x="6446520" y="2926080"/>
            <a:ext cx="4114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0f172a"/>
                </a:solidFill>
                <a:effectLst/>
                <a:uFillTx/>
                <a:latin typeface="Aptos"/>
              </a:rPr>
              <a:t>Enrichissements créés</a:t>
            </a:r>
            <a:endParaRPr b="0" lang="fr-FR" sz="2000" strike="noStrike" u="none">
              <a:solidFill>
                <a:srgbClr val="000000"/>
              </a:solidFill>
              <a:effectLst/>
              <a:uFillTx/>
              <a:latin typeface="Arial"/>
            </a:endParaRPr>
          </a:p>
        </p:txBody>
      </p:sp>
      <p:sp>
        <p:nvSpPr>
          <p:cNvPr id="69" name="Text 16"/>
          <p:cNvSpPr/>
          <p:nvPr/>
        </p:nvSpPr>
        <p:spPr>
          <a:xfrm>
            <a:off x="6492240" y="3364920"/>
            <a:ext cx="4845960" cy="1416960"/>
          </a:xfrm>
          <a:prstGeom prst="rect">
            <a:avLst/>
          </a:prstGeom>
          <a:noFill/>
          <a:ln w="0">
            <a:noFill/>
          </a:ln>
        </p:spPr>
        <p:style>
          <a:lnRef idx="0"/>
          <a:fillRef idx="0"/>
          <a:effectRef idx="0"/>
          <a:fontRef idx="minor"/>
        </p:style>
        <p:txBody>
          <a:bodyPr lIns="90000" rIns="90000" tIns="45000" bIns="45000" anchor="ctr">
            <a:normAutofit fontScale="92500" lnSpcReduction="9999"/>
          </a:bodyPr>
          <a:p>
            <a:pPr defTabSz="914400">
              <a:lnSpc>
                <a:spcPct val="100000"/>
              </a:lnSpc>
              <a:tabLst>
                <a:tab algn="l" pos="0"/>
              </a:tabLst>
            </a:pPr>
            <a:r>
              <a:rPr b="0" lang="en-US" sz="1550" strike="noStrike" u="none">
                <a:solidFill>
                  <a:srgbClr val="475569"/>
                </a:solidFill>
                <a:effectLst/>
                <a:uFillTx/>
                <a:latin typeface="Aptos"/>
              </a:rPr>
              <a:t>• durée en minutes</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vitesse moyenne en mph</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taux de pourboire</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distance : SHORT / MEDIUM / LONG / VERY_LONG</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période : MORNING / AFTERNOON / EVENING / NIGHT</a:t>
            </a:r>
            <a:endParaRPr b="0" lang="fr-FR" sz="1550" strike="noStrike" u="none">
              <a:solidFill>
                <a:srgbClr val="000000"/>
              </a:solidFill>
              <a:effectLst/>
              <a:uFillTx/>
              <a:latin typeface="Arial"/>
            </a:endParaRPr>
          </a:p>
        </p:txBody>
      </p:sp>
      <p:sp>
        <p:nvSpPr>
          <p:cNvPr id="70" name="Shape 17"/>
          <p:cNvSpPr/>
          <p:nvPr/>
        </p:nvSpPr>
        <p:spPr>
          <a:xfrm>
            <a:off x="5989320" y="2971800"/>
            <a:ext cx="360" cy="1920240"/>
          </a:xfrm>
          <a:prstGeom prst="line">
            <a:avLst/>
          </a:prstGeom>
          <a:ln w="12700">
            <a:solidFill>
              <a:srgbClr val="e2e8f0"/>
            </a:solidFill>
            <a:roun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71" name="Text 18"/>
          <p:cNvSpPr/>
          <p:nvPr/>
        </p:nvSpPr>
        <p:spPr>
          <a:xfrm>
            <a:off x="502920" y="6473880"/>
            <a:ext cx="4571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64748b"/>
                </a:solidFill>
                <a:effectLst/>
                <a:uFillTx/>
                <a:latin typeface="Aptos"/>
              </a:rPr>
              <a:t>Soutenance NYC Taxi Data Warehouse • 3/5</a:t>
            </a:r>
            <a:endParaRPr b="0" lang="fr-FR"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8fb"/>
        </a:solidFill>
      </p:bgPr>
    </p:bg>
    <p:spTree>
      <p:nvGrpSpPr>
        <p:cNvPr id="1" name=""/>
        <p:cNvGrpSpPr/>
        <p:nvPr/>
      </p:nvGrpSpPr>
      <p:grpSpPr>
        <a:xfrm>
          <a:off x="0" y="0"/>
          <a:ext cx="0" cy="0"/>
          <a:chOff x="0" y="0"/>
          <a:chExt cx="0" cy="0"/>
        </a:xfrm>
      </p:grpSpPr>
      <p:sp>
        <p:nvSpPr>
          <p:cNvPr id="72" name="Text 0"/>
          <p:cNvSpPr/>
          <p:nvPr/>
        </p:nvSpPr>
        <p:spPr>
          <a:xfrm>
            <a:off x="502920" y="320040"/>
            <a:ext cx="108370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100" strike="noStrike" u="none">
                <a:solidFill>
                  <a:srgbClr val="0f172a"/>
                </a:solidFill>
                <a:effectLst/>
                <a:uFillTx/>
                <a:latin typeface="Aptos Display"/>
                <a:ea typeface="Aptos Display"/>
              </a:rPr>
              <a:t>Industrialisation : dbt + GitHub Actions</a:t>
            </a:r>
            <a:endParaRPr b="0" lang="fr-FR" sz="3100" strike="noStrike" u="none">
              <a:solidFill>
                <a:srgbClr val="000000"/>
              </a:solidFill>
              <a:effectLst/>
              <a:uFillTx/>
              <a:latin typeface="Arial"/>
            </a:endParaRPr>
          </a:p>
        </p:txBody>
      </p:sp>
      <p:sp>
        <p:nvSpPr>
          <p:cNvPr id="73" name="Text 1"/>
          <p:cNvSpPr/>
          <p:nvPr/>
        </p:nvSpPr>
        <p:spPr>
          <a:xfrm>
            <a:off x="360000" y="1138680"/>
            <a:ext cx="804636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trike="noStrike" u="none">
                <a:solidFill>
                  <a:srgbClr val="475569"/>
                </a:solidFill>
                <a:effectLst/>
                <a:uFillTx/>
                <a:latin typeface="Aptos"/>
              </a:rPr>
              <a:t>Un pipeline versionné, testé, documenté et automatisé</a:t>
            </a:r>
            <a:endParaRPr b="0" lang="fr-FR" sz="1250" strike="noStrike" u="none">
              <a:solidFill>
                <a:srgbClr val="000000"/>
              </a:solidFill>
              <a:effectLst/>
              <a:uFillTx/>
              <a:latin typeface="Arial"/>
            </a:endParaRPr>
          </a:p>
        </p:txBody>
      </p:sp>
      <p:sp>
        <p:nvSpPr>
          <p:cNvPr id="74" name="Shape 2"/>
          <p:cNvSpPr/>
          <p:nvPr/>
        </p:nvSpPr>
        <p:spPr>
          <a:xfrm>
            <a:off x="502920" y="1124640"/>
            <a:ext cx="11155680" cy="360"/>
          </a:xfrm>
          <a:prstGeom prst="line">
            <a:avLst/>
          </a:prstGeom>
          <a:ln w="12700">
            <a:solidFill>
              <a:srgbClr val="e2e8f0"/>
            </a:solidFill>
            <a:roun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75" name="Shape 3"/>
          <p:cNvSpPr/>
          <p:nvPr/>
        </p:nvSpPr>
        <p:spPr>
          <a:xfrm>
            <a:off x="914400" y="1874520"/>
            <a:ext cx="2285640" cy="822600"/>
          </a:xfrm>
          <a:prstGeom prst="roundRect">
            <a:avLst>
              <a:gd name="adj" fmla="val 8889"/>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76" name="Text 4"/>
          <p:cNvSpPr/>
          <p:nvPr/>
        </p:nvSpPr>
        <p:spPr>
          <a:xfrm>
            <a:off x="1005840" y="2011680"/>
            <a:ext cx="210276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dbt staging</a:t>
            </a:r>
            <a:endParaRPr b="0" lang="fr-FR" sz="1500" strike="noStrike" u="none">
              <a:solidFill>
                <a:srgbClr val="000000"/>
              </a:solidFill>
              <a:effectLst/>
              <a:uFillTx/>
              <a:latin typeface="Arial"/>
            </a:endParaRPr>
          </a:p>
        </p:txBody>
      </p:sp>
      <p:sp>
        <p:nvSpPr>
          <p:cNvPr id="77" name="Text 5"/>
          <p:cNvSpPr/>
          <p:nvPr/>
        </p:nvSpPr>
        <p:spPr>
          <a:xfrm>
            <a:off x="1005840" y="2313360"/>
            <a:ext cx="21027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475569"/>
                </a:solidFill>
                <a:effectLst/>
                <a:uFillTx/>
                <a:latin typeface="Aptos"/>
              </a:rPr>
              <a:t>stg_yellow_taxi_trips</a:t>
            </a:r>
            <a:endParaRPr b="0" lang="fr-FR" sz="1050" strike="noStrike" u="none">
              <a:solidFill>
                <a:srgbClr val="000000"/>
              </a:solidFill>
              <a:effectLst/>
              <a:uFillTx/>
              <a:latin typeface="Arial"/>
            </a:endParaRPr>
          </a:p>
        </p:txBody>
      </p:sp>
      <p:sp>
        <p:nvSpPr>
          <p:cNvPr id="78" name="Shape 6"/>
          <p:cNvSpPr/>
          <p:nvPr/>
        </p:nvSpPr>
        <p:spPr>
          <a:xfrm>
            <a:off x="3749040" y="1874520"/>
            <a:ext cx="2285640" cy="822600"/>
          </a:xfrm>
          <a:prstGeom prst="roundRect">
            <a:avLst>
              <a:gd name="adj" fmla="val 8889"/>
            </a:avLst>
          </a:prstGeom>
          <a:solidFill>
            <a:srgbClr val="eff6ff"/>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79" name="Text 7"/>
          <p:cNvSpPr/>
          <p:nvPr/>
        </p:nvSpPr>
        <p:spPr>
          <a:xfrm>
            <a:off x="3840480" y="2011680"/>
            <a:ext cx="210276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dbt intermediate</a:t>
            </a:r>
            <a:endParaRPr b="0" lang="fr-FR" sz="1500" strike="noStrike" u="none">
              <a:solidFill>
                <a:srgbClr val="000000"/>
              </a:solidFill>
              <a:effectLst/>
              <a:uFillTx/>
              <a:latin typeface="Arial"/>
            </a:endParaRPr>
          </a:p>
        </p:txBody>
      </p:sp>
      <p:sp>
        <p:nvSpPr>
          <p:cNvPr id="80" name="Text 8"/>
          <p:cNvSpPr/>
          <p:nvPr/>
        </p:nvSpPr>
        <p:spPr>
          <a:xfrm>
            <a:off x="3840480" y="2313360"/>
            <a:ext cx="21027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475569"/>
                </a:solidFill>
                <a:effectLst/>
                <a:uFillTx/>
                <a:latin typeface="Aptos"/>
              </a:rPr>
              <a:t>int_trip_metrics</a:t>
            </a:r>
            <a:endParaRPr b="0" lang="fr-FR" sz="1050" strike="noStrike" u="none">
              <a:solidFill>
                <a:srgbClr val="000000"/>
              </a:solidFill>
              <a:effectLst/>
              <a:uFillTx/>
              <a:latin typeface="Arial"/>
            </a:endParaRPr>
          </a:p>
        </p:txBody>
      </p:sp>
      <p:sp>
        <p:nvSpPr>
          <p:cNvPr id="81" name="Shape 9"/>
          <p:cNvSpPr/>
          <p:nvPr/>
        </p:nvSpPr>
        <p:spPr>
          <a:xfrm>
            <a:off x="6583680" y="1874520"/>
            <a:ext cx="2285640" cy="822600"/>
          </a:xfrm>
          <a:prstGeom prst="roundRect">
            <a:avLst>
              <a:gd name="adj" fmla="val 8889"/>
            </a:avLst>
          </a:prstGeom>
          <a:solidFill>
            <a:srgbClr val="dcfce7"/>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82" name="Text 10"/>
          <p:cNvSpPr/>
          <p:nvPr/>
        </p:nvSpPr>
        <p:spPr>
          <a:xfrm>
            <a:off x="6675120" y="2011680"/>
            <a:ext cx="210276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dbt marts</a:t>
            </a:r>
            <a:endParaRPr b="0" lang="fr-FR" sz="1500" strike="noStrike" u="none">
              <a:solidFill>
                <a:srgbClr val="000000"/>
              </a:solidFill>
              <a:effectLst/>
              <a:uFillTx/>
              <a:latin typeface="Arial"/>
            </a:endParaRPr>
          </a:p>
        </p:txBody>
      </p:sp>
      <p:sp>
        <p:nvSpPr>
          <p:cNvPr id="83" name="Text 11"/>
          <p:cNvSpPr/>
          <p:nvPr/>
        </p:nvSpPr>
        <p:spPr>
          <a:xfrm>
            <a:off x="6675120" y="2313360"/>
            <a:ext cx="210276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475569"/>
                </a:solidFill>
                <a:effectLst/>
                <a:uFillTx/>
                <a:latin typeface="Aptos"/>
              </a:rPr>
              <a:t>daily • zone • hourly</a:t>
            </a:r>
            <a:endParaRPr b="0" lang="fr-FR" sz="1050" strike="noStrike" u="none">
              <a:solidFill>
                <a:srgbClr val="000000"/>
              </a:solidFill>
              <a:effectLst/>
              <a:uFillTx/>
              <a:latin typeface="Arial"/>
            </a:endParaRPr>
          </a:p>
        </p:txBody>
      </p:sp>
      <p:sp>
        <p:nvSpPr>
          <p:cNvPr id="84" name="Shape 12"/>
          <p:cNvSpPr/>
          <p:nvPr/>
        </p:nvSpPr>
        <p:spPr>
          <a:xfrm>
            <a:off x="9418320" y="1874520"/>
            <a:ext cx="1919880" cy="822600"/>
          </a:xfrm>
          <a:prstGeom prst="roundRect">
            <a:avLst>
              <a:gd name="adj" fmla="val 8889"/>
            </a:avLst>
          </a:prstGeom>
          <a:solidFill>
            <a:srgbClr val="fef3c7"/>
          </a:solidFill>
          <a:ln w="12700">
            <a:solidFill>
              <a:srgbClr val="cbd5e1"/>
            </a:solidFill>
            <a:round/>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85" name="Text 13"/>
          <p:cNvSpPr/>
          <p:nvPr/>
        </p:nvSpPr>
        <p:spPr>
          <a:xfrm>
            <a:off x="9509760" y="2011680"/>
            <a:ext cx="173700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f172a"/>
                </a:solidFill>
                <a:effectLst/>
                <a:uFillTx/>
                <a:latin typeface="Aptos"/>
              </a:rPr>
              <a:t>docs + lineage</a:t>
            </a:r>
            <a:endParaRPr b="0" lang="fr-FR" sz="1500" strike="noStrike" u="none">
              <a:solidFill>
                <a:srgbClr val="000000"/>
              </a:solidFill>
              <a:effectLst/>
              <a:uFillTx/>
              <a:latin typeface="Arial"/>
            </a:endParaRPr>
          </a:p>
        </p:txBody>
      </p:sp>
      <p:sp>
        <p:nvSpPr>
          <p:cNvPr id="86" name="Text 14"/>
          <p:cNvSpPr/>
          <p:nvPr/>
        </p:nvSpPr>
        <p:spPr>
          <a:xfrm>
            <a:off x="9509760" y="2313360"/>
            <a:ext cx="173700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475569"/>
                </a:solidFill>
                <a:effectLst/>
                <a:uFillTx/>
                <a:latin typeface="Aptos"/>
              </a:rPr>
              <a:t>dbt docs generate</a:t>
            </a:r>
            <a:endParaRPr b="0" lang="fr-FR" sz="1050" strike="noStrike" u="none">
              <a:solidFill>
                <a:srgbClr val="000000"/>
              </a:solidFill>
              <a:effectLst/>
              <a:uFillTx/>
              <a:latin typeface="Arial"/>
            </a:endParaRPr>
          </a:p>
        </p:txBody>
      </p:sp>
      <p:sp>
        <p:nvSpPr>
          <p:cNvPr id="87" name="Shape 15"/>
          <p:cNvSpPr/>
          <p:nvPr/>
        </p:nvSpPr>
        <p:spPr>
          <a:xfrm>
            <a:off x="3246120" y="2286000"/>
            <a:ext cx="48456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8" name="Shape 16"/>
          <p:cNvSpPr/>
          <p:nvPr/>
        </p:nvSpPr>
        <p:spPr>
          <a:xfrm>
            <a:off x="6080760" y="2286000"/>
            <a:ext cx="48456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9" name="Shape 17"/>
          <p:cNvSpPr/>
          <p:nvPr/>
        </p:nvSpPr>
        <p:spPr>
          <a:xfrm>
            <a:off x="8915400" y="2286000"/>
            <a:ext cx="48456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90" name="Text 18"/>
          <p:cNvSpPr/>
          <p:nvPr/>
        </p:nvSpPr>
        <p:spPr>
          <a:xfrm>
            <a:off x="914400" y="3566160"/>
            <a:ext cx="1919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0f172a"/>
                </a:solidFill>
                <a:effectLst/>
                <a:uFillTx/>
                <a:latin typeface="Aptos"/>
              </a:rPr>
              <a:t>Validation</a:t>
            </a:r>
            <a:endParaRPr b="0" lang="fr-FR" sz="2000" strike="noStrike" u="none">
              <a:solidFill>
                <a:srgbClr val="000000"/>
              </a:solidFill>
              <a:effectLst/>
              <a:uFillTx/>
              <a:latin typeface="Arial"/>
            </a:endParaRPr>
          </a:p>
        </p:txBody>
      </p:sp>
      <p:sp>
        <p:nvSpPr>
          <p:cNvPr id="91" name="Text 19"/>
          <p:cNvSpPr/>
          <p:nvPr/>
        </p:nvSpPr>
        <p:spPr>
          <a:xfrm>
            <a:off x="900000" y="4140000"/>
            <a:ext cx="191988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trike="noStrike" u="none">
                <a:solidFill>
                  <a:srgbClr val="16a34a"/>
                </a:solidFill>
                <a:effectLst/>
                <a:uFillTx/>
                <a:latin typeface="Aptos"/>
              </a:rPr>
              <a:t>37 tests PASS</a:t>
            </a:r>
            <a:endParaRPr b="0" lang="fr-FR" sz="2400" strike="noStrike" u="none">
              <a:solidFill>
                <a:srgbClr val="000000"/>
              </a:solidFill>
              <a:effectLst/>
              <a:uFillTx/>
              <a:latin typeface="Arial"/>
            </a:endParaRPr>
          </a:p>
          <a:p>
            <a:pPr defTabSz="914400">
              <a:lnSpc>
                <a:spcPct val="100000"/>
              </a:lnSpc>
              <a:tabLst>
                <a:tab algn="l" pos="0"/>
              </a:tabLst>
            </a:pPr>
            <a:r>
              <a:rPr b="1" lang="en-US" sz="2400" strike="noStrike" u="none">
                <a:solidFill>
                  <a:srgbClr val="16a34a"/>
                </a:solidFill>
                <a:effectLst/>
                <a:uFillTx/>
                <a:latin typeface="Aptos"/>
              </a:rPr>
              <a:t>0 erreur</a:t>
            </a:r>
            <a:endParaRPr b="0" lang="fr-FR" sz="2400" strike="noStrike" u="none">
              <a:solidFill>
                <a:srgbClr val="000000"/>
              </a:solidFill>
              <a:effectLst/>
              <a:uFillTx/>
              <a:latin typeface="Arial"/>
            </a:endParaRPr>
          </a:p>
        </p:txBody>
      </p:sp>
      <p:sp>
        <p:nvSpPr>
          <p:cNvPr id="92" name="Text 20"/>
          <p:cNvSpPr/>
          <p:nvPr/>
        </p:nvSpPr>
        <p:spPr>
          <a:xfrm>
            <a:off x="3977640" y="3566160"/>
            <a:ext cx="22856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0f172a"/>
                </a:solidFill>
                <a:effectLst/>
                <a:uFillTx/>
                <a:latin typeface="Aptos"/>
              </a:rPr>
              <a:t>Automatisation</a:t>
            </a:r>
            <a:endParaRPr b="0" lang="fr-FR" sz="2000" strike="noStrike" u="none">
              <a:solidFill>
                <a:srgbClr val="000000"/>
              </a:solidFill>
              <a:effectLst/>
              <a:uFillTx/>
              <a:latin typeface="Arial"/>
            </a:endParaRPr>
          </a:p>
        </p:txBody>
      </p:sp>
      <p:sp>
        <p:nvSpPr>
          <p:cNvPr id="93" name="Text 21"/>
          <p:cNvSpPr/>
          <p:nvPr/>
        </p:nvSpPr>
        <p:spPr>
          <a:xfrm>
            <a:off x="3977640" y="3913560"/>
            <a:ext cx="255996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trike="noStrike" u="none">
                <a:solidFill>
                  <a:srgbClr val="475569"/>
                </a:solidFill>
                <a:effectLst/>
                <a:uFillTx/>
                <a:latin typeface="Aptos"/>
              </a:rPr>
              <a:t>GitHub Actions</a:t>
            </a:r>
            <a:endParaRPr b="0" lang="fr-FR" sz="1600" strike="noStrike" u="none">
              <a:solidFill>
                <a:srgbClr val="000000"/>
              </a:solidFill>
              <a:effectLst/>
              <a:uFillTx/>
              <a:latin typeface="Arial"/>
            </a:endParaRPr>
          </a:p>
          <a:p>
            <a:pPr defTabSz="914400">
              <a:lnSpc>
                <a:spcPct val="100000"/>
              </a:lnSpc>
              <a:tabLst>
                <a:tab algn="l" pos="0"/>
              </a:tabLst>
            </a:pPr>
            <a:r>
              <a:rPr b="0" lang="en-US" sz="1600" strike="noStrike" u="none">
                <a:solidFill>
                  <a:srgbClr val="475569"/>
                </a:solidFill>
                <a:effectLst/>
                <a:uFillTx/>
                <a:latin typeface="Aptos"/>
              </a:rPr>
              <a:t>mensuel + manuel</a:t>
            </a:r>
            <a:endParaRPr b="0" lang="fr-FR" sz="1600" strike="noStrike" u="none">
              <a:solidFill>
                <a:srgbClr val="000000"/>
              </a:solidFill>
              <a:effectLst/>
              <a:uFillTx/>
              <a:latin typeface="Arial"/>
            </a:endParaRPr>
          </a:p>
          <a:p>
            <a:pPr defTabSz="914400">
              <a:lnSpc>
                <a:spcPct val="100000"/>
              </a:lnSpc>
              <a:tabLst>
                <a:tab algn="l" pos="0"/>
              </a:tabLst>
            </a:pPr>
            <a:r>
              <a:rPr b="0" lang="en-US" sz="1600" strike="noStrike" u="none">
                <a:solidFill>
                  <a:srgbClr val="475569"/>
                </a:solidFill>
                <a:effectLst/>
                <a:uFillTx/>
                <a:latin typeface="Aptos"/>
              </a:rPr>
              <a:t>secrets Snowflake</a:t>
            </a:r>
            <a:endParaRPr b="0" lang="fr-FR" sz="1600" strike="noStrike" u="none">
              <a:solidFill>
                <a:srgbClr val="000000"/>
              </a:solidFill>
              <a:effectLst/>
              <a:uFillTx/>
              <a:latin typeface="Arial"/>
            </a:endParaRPr>
          </a:p>
        </p:txBody>
      </p:sp>
      <p:sp>
        <p:nvSpPr>
          <p:cNvPr id="94" name="Text 22"/>
          <p:cNvSpPr/>
          <p:nvPr/>
        </p:nvSpPr>
        <p:spPr>
          <a:xfrm>
            <a:off x="7406640" y="3566160"/>
            <a:ext cx="191988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0f172a"/>
                </a:solidFill>
                <a:effectLst/>
                <a:uFillTx/>
                <a:latin typeface="Aptos"/>
              </a:rPr>
              <a:t>Notification</a:t>
            </a:r>
            <a:endParaRPr b="0" lang="fr-FR" sz="2000" strike="noStrike" u="none">
              <a:solidFill>
                <a:srgbClr val="000000"/>
              </a:solidFill>
              <a:effectLst/>
              <a:uFillTx/>
              <a:latin typeface="Arial"/>
            </a:endParaRPr>
          </a:p>
        </p:txBody>
      </p:sp>
      <p:sp>
        <p:nvSpPr>
          <p:cNvPr id="95" name="Text 23"/>
          <p:cNvSpPr/>
          <p:nvPr/>
        </p:nvSpPr>
        <p:spPr>
          <a:xfrm>
            <a:off x="7406640" y="3913560"/>
            <a:ext cx="274284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trike="noStrike" u="none">
                <a:solidFill>
                  <a:srgbClr val="475569"/>
                </a:solidFill>
                <a:effectLst/>
                <a:uFillTx/>
                <a:latin typeface="Aptos"/>
              </a:rPr>
              <a:t>Si échec :</a:t>
            </a:r>
            <a:endParaRPr b="0" lang="fr-FR" sz="1600" strike="noStrike" u="none">
              <a:solidFill>
                <a:srgbClr val="000000"/>
              </a:solidFill>
              <a:effectLst/>
              <a:uFillTx/>
              <a:latin typeface="Arial"/>
            </a:endParaRPr>
          </a:p>
          <a:p>
            <a:pPr defTabSz="914400">
              <a:lnSpc>
                <a:spcPct val="100000"/>
              </a:lnSpc>
              <a:tabLst>
                <a:tab algn="l" pos="0"/>
              </a:tabLst>
            </a:pPr>
            <a:r>
              <a:rPr b="0" lang="en-US" sz="1600" strike="noStrike" u="none">
                <a:solidFill>
                  <a:srgbClr val="475569"/>
                </a:solidFill>
                <a:effectLst/>
                <a:uFillTx/>
                <a:latin typeface="Aptos"/>
              </a:rPr>
              <a:t>Issue GitHub créée</a:t>
            </a:r>
            <a:endParaRPr b="0" lang="fr-FR" sz="1600" strike="noStrike" u="none">
              <a:solidFill>
                <a:srgbClr val="000000"/>
              </a:solidFill>
              <a:effectLst/>
              <a:uFillTx/>
              <a:latin typeface="Arial"/>
            </a:endParaRPr>
          </a:p>
          <a:p>
            <a:pPr defTabSz="914400">
              <a:lnSpc>
                <a:spcPct val="100000"/>
              </a:lnSpc>
              <a:tabLst>
                <a:tab algn="l" pos="0"/>
              </a:tabLst>
            </a:pPr>
            <a:r>
              <a:rPr b="0" lang="en-US" sz="1600" strike="noStrike" u="none">
                <a:solidFill>
                  <a:srgbClr val="475569"/>
                </a:solidFill>
                <a:effectLst/>
                <a:uFillTx/>
                <a:latin typeface="Aptos"/>
              </a:rPr>
              <a:t>avec lien du run</a:t>
            </a:r>
            <a:endParaRPr b="0" lang="fr-FR" sz="1600" strike="noStrike" u="none">
              <a:solidFill>
                <a:srgbClr val="000000"/>
              </a:solidFill>
              <a:effectLst/>
              <a:uFillTx/>
              <a:latin typeface="Arial"/>
            </a:endParaRPr>
          </a:p>
        </p:txBody>
      </p:sp>
      <p:sp>
        <p:nvSpPr>
          <p:cNvPr id="96" name="Text 24"/>
          <p:cNvSpPr/>
          <p:nvPr/>
        </p:nvSpPr>
        <p:spPr>
          <a:xfrm>
            <a:off x="502920" y="6473880"/>
            <a:ext cx="4571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64748b"/>
                </a:solidFill>
                <a:effectLst/>
                <a:uFillTx/>
                <a:latin typeface="Aptos"/>
              </a:rPr>
              <a:t>Soutenance NYC Taxi Data Warehouse • 4/5</a:t>
            </a:r>
            <a:endParaRPr b="0" lang="fr-FR"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6f8fb"/>
        </a:solidFill>
      </p:bgPr>
    </p:bg>
    <p:spTree>
      <p:nvGrpSpPr>
        <p:cNvPr id="1" name=""/>
        <p:cNvGrpSpPr/>
        <p:nvPr/>
      </p:nvGrpSpPr>
      <p:grpSpPr>
        <a:xfrm>
          <a:off x="0" y="0"/>
          <a:ext cx="0" cy="0"/>
          <a:chOff x="0" y="0"/>
          <a:chExt cx="0" cy="0"/>
        </a:xfrm>
      </p:grpSpPr>
      <p:sp>
        <p:nvSpPr>
          <p:cNvPr id="97" name="Text 0"/>
          <p:cNvSpPr/>
          <p:nvPr/>
        </p:nvSpPr>
        <p:spPr>
          <a:xfrm>
            <a:off x="502920" y="320040"/>
            <a:ext cx="81378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100" strike="noStrike" u="none">
                <a:solidFill>
                  <a:srgbClr val="0f172a"/>
                </a:solidFill>
                <a:effectLst/>
                <a:uFillTx/>
                <a:latin typeface="Aptos Display"/>
                <a:ea typeface="Aptos Display"/>
              </a:rPr>
              <a:t>Dashboard et bilan</a:t>
            </a:r>
            <a:endParaRPr b="0" lang="fr-FR" sz="3100" strike="noStrike" u="none">
              <a:solidFill>
                <a:srgbClr val="000000"/>
              </a:solidFill>
              <a:effectLst/>
              <a:uFillTx/>
              <a:latin typeface="Arial"/>
            </a:endParaRPr>
          </a:p>
        </p:txBody>
      </p:sp>
      <p:sp>
        <p:nvSpPr>
          <p:cNvPr id="98" name="Text 1"/>
          <p:cNvSpPr/>
          <p:nvPr/>
        </p:nvSpPr>
        <p:spPr>
          <a:xfrm>
            <a:off x="530280" y="786240"/>
            <a:ext cx="804636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trike="noStrike" u="none">
                <a:solidFill>
                  <a:srgbClr val="475569"/>
                </a:solidFill>
                <a:effectLst/>
                <a:uFillTx/>
                <a:latin typeface="Aptos"/>
              </a:rPr>
              <a:t>Démonstration métier et prochaines améliorations</a:t>
            </a:r>
            <a:endParaRPr b="0" lang="fr-FR" sz="1250" strike="noStrike" u="none">
              <a:solidFill>
                <a:srgbClr val="000000"/>
              </a:solidFill>
              <a:effectLst/>
              <a:uFillTx/>
              <a:latin typeface="Arial"/>
            </a:endParaRPr>
          </a:p>
        </p:txBody>
      </p:sp>
      <p:sp>
        <p:nvSpPr>
          <p:cNvPr id="99" name="Shape 2"/>
          <p:cNvSpPr/>
          <p:nvPr/>
        </p:nvSpPr>
        <p:spPr>
          <a:xfrm>
            <a:off x="502920" y="1124640"/>
            <a:ext cx="11155680" cy="360"/>
          </a:xfrm>
          <a:prstGeom prst="line">
            <a:avLst/>
          </a:prstGeom>
          <a:ln w="12700">
            <a:solidFill>
              <a:srgbClr val="e2e8f0"/>
            </a:solidFill>
            <a:roun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00" name="Text 3"/>
          <p:cNvSpPr/>
          <p:nvPr/>
        </p:nvSpPr>
        <p:spPr>
          <a:xfrm>
            <a:off x="685800" y="1417320"/>
            <a:ext cx="155412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2563eb"/>
                </a:solidFill>
                <a:effectLst/>
                <a:uFillTx/>
                <a:latin typeface="Aptos"/>
              </a:rPr>
              <a:t>44,2 M</a:t>
            </a:r>
            <a:endParaRPr b="0" lang="fr-FR" sz="2600" strike="noStrike" u="none">
              <a:solidFill>
                <a:srgbClr val="000000"/>
              </a:solidFill>
              <a:effectLst/>
              <a:uFillTx/>
              <a:latin typeface="Arial"/>
            </a:endParaRPr>
          </a:p>
        </p:txBody>
      </p:sp>
      <p:sp>
        <p:nvSpPr>
          <p:cNvPr id="101" name="Text 4"/>
          <p:cNvSpPr/>
          <p:nvPr/>
        </p:nvSpPr>
        <p:spPr>
          <a:xfrm>
            <a:off x="685800" y="1856160"/>
            <a:ext cx="15541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trajets</a:t>
            </a:r>
            <a:endParaRPr b="0" lang="fr-FR" sz="1100" strike="noStrike" u="none">
              <a:solidFill>
                <a:srgbClr val="000000"/>
              </a:solidFill>
              <a:effectLst/>
              <a:uFillTx/>
              <a:latin typeface="Arial"/>
            </a:endParaRPr>
          </a:p>
        </p:txBody>
      </p:sp>
      <p:sp>
        <p:nvSpPr>
          <p:cNvPr id="102" name="Text 5"/>
          <p:cNvSpPr/>
          <p:nvPr/>
        </p:nvSpPr>
        <p:spPr>
          <a:xfrm>
            <a:off x="2468880" y="1417320"/>
            <a:ext cx="19198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16a34a"/>
                </a:solidFill>
                <a:effectLst/>
                <a:uFillTx/>
                <a:latin typeface="Aptos"/>
              </a:rPr>
              <a:t>$1,276 Md</a:t>
            </a:r>
            <a:endParaRPr b="0" lang="fr-FR" sz="2600" strike="noStrike" u="none">
              <a:solidFill>
                <a:srgbClr val="000000"/>
              </a:solidFill>
              <a:effectLst/>
              <a:uFillTx/>
              <a:latin typeface="Arial"/>
            </a:endParaRPr>
          </a:p>
        </p:txBody>
      </p:sp>
      <p:sp>
        <p:nvSpPr>
          <p:cNvPr id="103" name="Text 6"/>
          <p:cNvSpPr/>
          <p:nvPr/>
        </p:nvSpPr>
        <p:spPr>
          <a:xfrm>
            <a:off x="2468880" y="1856160"/>
            <a:ext cx="1919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chiffre d'affaires</a:t>
            </a:r>
            <a:endParaRPr b="0" lang="fr-FR" sz="1100" strike="noStrike" u="none">
              <a:solidFill>
                <a:srgbClr val="000000"/>
              </a:solidFill>
              <a:effectLst/>
              <a:uFillTx/>
              <a:latin typeface="Arial"/>
            </a:endParaRPr>
          </a:p>
        </p:txBody>
      </p:sp>
      <p:sp>
        <p:nvSpPr>
          <p:cNvPr id="104" name="Text 7"/>
          <p:cNvSpPr/>
          <p:nvPr/>
        </p:nvSpPr>
        <p:spPr>
          <a:xfrm>
            <a:off x="4709160" y="1417320"/>
            <a:ext cx="16912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06b6d4"/>
                </a:solidFill>
                <a:effectLst/>
                <a:uFillTx/>
                <a:latin typeface="Aptos"/>
              </a:rPr>
              <a:t>3,49 mi</a:t>
            </a:r>
            <a:endParaRPr b="0" lang="fr-FR" sz="2600" strike="noStrike" u="none">
              <a:solidFill>
                <a:srgbClr val="000000"/>
              </a:solidFill>
              <a:effectLst/>
              <a:uFillTx/>
              <a:latin typeface="Arial"/>
            </a:endParaRPr>
          </a:p>
        </p:txBody>
      </p:sp>
      <p:sp>
        <p:nvSpPr>
          <p:cNvPr id="105" name="Text 8"/>
          <p:cNvSpPr/>
          <p:nvPr/>
        </p:nvSpPr>
        <p:spPr>
          <a:xfrm>
            <a:off x="4709160" y="1856160"/>
            <a:ext cx="16912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distance moyenne</a:t>
            </a:r>
            <a:endParaRPr b="0" lang="fr-FR" sz="1100" strike="noStrike" u="none">
              <a:solidFill>
                <a:srgbClr val="000000"/>
              </a:solidFill>
              <a:effectLst/>
              <a:uFillTx/>
              <a:latin typeface="Arial"/>
            </a:endParaRPr>
          </a:p>
        </p:txBody>
      </p:sp>
      <p:sp>
        <p:nvSpPr>
          <p:cNvPr id="106" name="Text 9"/>
          <p:cNvSpPr/>
          <p:nvPr/>
        </p:nvSpPr>
        <p:spPr>
          <a:xfrm>
            <a:off x="6629400" y="1417320"/>
            <a:ext cx="173700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trike="noStrike" u="none">
                <a:solidFill>
                  <a:srgbClr val="f59e0b"/>
                </a:solidFill>
                <a:effectLst/>
                <a:uFillTx/>
                <a:latin typeface="Aptos"/>
              </a:rPr>
              <a:t>17,6 min</a:t>
            </a:r>
            <a:endParaRPr b="0" lang="fr-FR" sz="2600" strike="noStrike" u="none">
              <a:solidFill>
                <a:srgbClr val="000000"/>
              </a:solidFill>
              <a:effectLst/>
              <a:uFillTx/>
              <a:latin typeface="Arial"/>
            </a:endParaRPr>
          </a:p>
        </p:txBody>
      </p:sp>
      <p:sp>
        <p:nvSpPr>
          <p:cNvPr id="107" name="Text 10"/>
          <p:cNvSpPr/>
          <p:nvPr/>
        </p:nvSpPr>
        <p:spPr>
          <a:xfrm>
            <a:off x="6629400" y="1856160"/>
            <a:ext cx="17370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475569"/>
                </a:solidFill>
                <a:effectLst/>
                <a:uFillTx/>
                <a:latin typeface="Aptos"/>
              </a:rPr>
              <a:t>durée moyenne</a:t>
            </a:r>
            <a:endParaRPr b="0" lang="fr-FR" sz="1100" strike="noStrike" u="none">
              <a:solidFill>
                <a:srgbClr val="000000"/>
              </a:solidFill>
              <a:effectLst/>
              <a:uFillTx/>
              <a:latin typeface="Arial"/>
            </a:endParaRPr>
          </a:p>
        </p:txBody>
      </p:sp>
      <p:sp>
        <p:nvSpPr>
          <p:cNvPr id="108" name="Text 11"/>
          <p:cNvSpPr/>
          <p:nvPr/>
        </p:nvSpPr>
        <p:spPr>
          <a:xfrm>
            <a:off x="731520" y="2971800"/>
            <a:ext cx="2742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0f172a"/>
                </a:solidFill>
                <a:effectLst/>
                <a:uFillTx/>
                <a:latin typeface="Aptos"/>
              </a:rPr>
              <a:t>Démo dashboard</a:t>
            </a:r>
            <a:endParaRPr b="0" lang="fr-FR" sz="2000" strike="noStrike" u="none">
              <a:solidFill>
                <a:srgbClr val="000000"/>
              </a:solidFill>
              <a:effectLst/>
              <a:uFillTx/>
              <a:latin typeface="Arial"/>
            </a:endParaRPr>
          </a:p>
        </p:txBody>
      </p:sp>
      <p:sp>
        <p:nvSpPr>
          <p:cNvPr id="109" name="Text 12"/>
          <p:cNvSpPr/>
          <p:nvPr/>
        </p:nvSpPr>
        <p:spPr>
          <a:xfrm>
            <a:off x="777240" y="3401640"/>
            <a:ext cx="4571640" cy="1142640"/>
          </a:xfrm>
          <a:prstGeom prst="rect">
            <a:avLst/>
          </a:prstGeom>
          <a:noFill/>
          <a:ln w="0">
            <a:noFill/>
          </a:ln>
        </p:spPr>
        <p:style>
          <a:lnRef idx="0"/>
          <a:fillRef idx="0"/>
          <a:effectRef idx="0"/>
          <a:fontRef idx="minor"/>
        </p:style>
        <p:txBody>
          <a:bodyPr lIns="90000" rIns="90000" tIns="45000" bIns="45000" anchor="ctr">
            <a:normAutofit/>
          </a:bodyPr>
          <a:p>
            <a:pPr defTabSz="914400">
              <a:lnSpc>
                <a:spcPct val="100000"/>
              </a:lnSpc>
              <a:tabLst>
                <a:tab algn="l" pos="0"/>
              </a:tabLst>
            </a:pPr>
            <a:r>
              <a:rPr b="0" lang="en-US" sz="1550" strike="noStrike" u="none">
                <a:solidFill>
                  <a:srgbClr val="475569"/>
                </a:solidFill>
                <a:effectLst/>
                <a:uFillTx/>
                <a:latin typeface="Aptos"/>
              </a:rPr>
              <a:t>• évolution quotidienne des trajets</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nombre de trajets par heure</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top 10 des zones de prise en charge</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filtre Tous / WEEKDAY / WEEKEND</a:t>
            </a:r>
            <a:endParaRPr b="0" lang="fr-FR" sz="1550" strike="noStrike" u="none">
              <a:solidFill>
                <a:srgbClr val="000000"/>
              </a:solidFill>
              <a:effectLst/>
              <a:uFillTx/>
              <a:latin typeface="Arial"/>
            </a:endParaRPr>
          </a:p>
        </p:txBody>
      </p:sp>
      <p:sp>
        <p:nvSpPr>
          <p:cNvPr id="110" name="Text 13"/>
          <p:cNvSpPr/>
          <p:nvPr/>
        </p:nvSpPr>
        <p:spPr>
          <a:xfrm>
            <a:off x="6446520" y="2971800"/>
            <a:ext cx="18284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trike="noStrike" u="none">
                <a:solidFill>
                  <a:srgbClr val="0f172a"/>
                </a:solidFill>
                <a:effectLst/>
                <a:uFillTx/>
                <a:latin typeface="Aptos"/>
              </a:rPr>
              <a:t>Bilan</a:t>
            </a:r>
            <a:endParaRPr b="0" lang="fr-FR" sz="2000" strike="noStrike" u="none">
              <a:solidFill>
                <a:srgbClr val="000000"/>
              </a:solidFill>
              <a:effectLst/>
              <a:uFillTx/>
              <a:latin typeface="Arial"/>
            </a:endParaRPr>
          </a:p>
        </p:txBody>
      </p:sp>
      <p:sp>
        <p:nvSpPr>
          <p:cNvPr id="111" name="Text 14"/>
          <p:cNvSpPr/>
          <p:nvPr/>
        </p:nvSpPr>
        <p:spPr>
          <a:xfrm>
            <a:off x="6492240" y="3401640"/>
            <a:ext cx="4571640" cy="1142640"/>
          </a:xfrm>
          <a:prstGeom prst="rect">
            <a:avLst/>
          </a:prstGeom>
          <a:noFill/>
          <a:ln w="0">
            <a:noFill/>
          </a:ln>
        </p:spPr>
        <p:style>
          <a:lnRef idx="0"/>
          <a:fillRef idx="0"/>
          <a:effectRef idx="0"/>
          <a:fontRef idx="minor"/>
        </p:style>
        <p:txBody>
          <a:bodyPr lIns="90000" rIns="90000" tIns="45000" bIns="45000" anchor="ctr">
            <a:normAutofit fontScale="92500" lnSpcReduction="9999"/>
          </a:bodyPr>
          <a:p>
            <a:pPr defTabSz="914400">
              <a:lnSpc>
                <a:spcPct val="100000"/>
              </a:lnSpc>
              <a:tabLst>
                <a:tab algn="l" pos="0"/>
              </a:tabLst>
            </a:pPr>
            <a:r>
              <a:rPr b="0" lang="en-US" sz="1550" strike="noStrike" u="none">
                <a:solidFill>
                  <a:srgbClr val="475569"/>
                </a:solidFill>
                <a:effectLst/>
                <a:uFillTx/>
                <a:latin typeface="Aptos"/>
              </a:rPr>
              <a:t>• pipeline complet et reproductible</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données contrôlées et documentées</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automatisation validée</a:t>
            </a:r>
            <a:endParaRPr b="0" lang="fr-FR" sz="1550" strike="noStrike" u="none">
              <a:solidFill>
                <a:srgbClr val="000000"/>
              </a:solidFill>
              <a:effectLst/>
              <a:uFillTx/>
              <a:latin typeface="Arial"/>
            </a:endParaRPr>
          </a:p>
          <a:p>
            <a:pPr defTabSz="914400">
              <a:lnSpc>
                <a:spcPct val="100000"/>
              </a:lnSpc>
              <a:tabLst>
                <a:tab algn="l" pos="0"/>
              </a:tabLst>
            </a:pPr>
            <a:r>
              <a:rPr b="0" lang="en-US" sz="1550" strike="noStrike" u="none">
                <a:solidFill>
                  <a:srgbClr val="475569"/>
                </a:solidFill>
                <a:effectLst/>
                <a:uFillTx/>
                <a:latin typeface="Aptos"/>
              </a:rPr>
              <a:t>• amélioration future : ingestion mensuelle complète + noms de zones NYC</a:t>
            </a:r>
            <a:endParaRPr b="0" lang="fr-FR" sz="1550" strike="noStrike" u="none">
              <a:solidFill>
                <a:srgbClr val="000000"/>
              </a:solidFill>
              <a:effectLst/>
              <a:uFillTx/>
              <a:latin typeface="Arial"/>
            </a:endParaRPr>
          </a:p>
        </p:txBody>
      </p:sp>
      <p:sp>
        <p:nvSpPr>
          <p:cNvPr id="112" name="Text 15"/>
          <p:cNvSpPr/>
          <p:nvPr/>
        </p:nvSpPr>
        <p:spPr>
          <a:xfrm>
            <a:off x="777240" y="5349240"/>
            <a:ext cx="1042380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f172a"/>
                </a:solidFill>
                <a:effectLst/>
                <a:uFillTx/>
                <a:latin typeface="Aptos"/>
              </a:rPr>
              <a:t>Message de conclusion : un pipeline structuré, testable et proche d’un contexte professionnel.</a:t>
            </a:r>
            <a:endParaRPr b="0" lang="fr-FR" sz="1800" strike="noStrike" u="none">
              <a:solidFill>
                <a:srgbClr val="000000"/>
              </a:solidFill>
              <a:effectLst/>
              <a:uFillTx/>
              <a:latin typeface="Arial"/>
            </a:endParaRPr>
          </a:p>
        </p:txBody>
      </p:sp>
      <p:sp>
        <p:nvSpPr>
          <p:cNvPr id="113" name="Text 16"/>
          <p:cNvSpPr/>
          <p:nvPr/>
        </p:nvSpPr>
        <p:spPr>
          <a:xfrm>
            <a:off x="502920" y="6473880"/>
            <a:ext cx="457164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50" strike="noStrike" u="none">
                <a:solidFill>
                  <a:srgbClr val="64748b"/>
                </a:solidFill>
                <a:effectLst/>
                <a:uFillTx/>
                <a:latin typeface="Aptos"/>
              </a:rPr>
              <a:t>Soutenance NYC Taxi Data Warehouse • 5/5</a:t>
            </a:r>
            <a:endParaRPr b="0" lang="fr-FR"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TotalTime>
  <Application>LibreOffice/25.2.7.2$Windows_X86_64 LibreOffice_project/5cbfd1ab6520636bb5f7b99185aa69bd7456825d</Application>
  <AppVersion>15.0000</AppVersion>
  <Words>0</Words>
  <Paragraphs>0</Paragraphs>
  <Company>nyc-taxi-snowflake-dbt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2026-10-01T23:14:47Z</dcterms:created>
  <dc:creator>Marie Antoinette Kilo</dc:creator>
  <dc:description/>
  <dc:language>fr-FR</dc:language>
  <cp:lastModifiedBy/>
  <dcterms:modified xsi:type="dcterms:W3CDTF">2026-10-02T01:41:36Z</dcterms:modified>
  <cp:revision>35</cp:revision>
  <dc:subject>Soutenance NYC Taxi Data Warehouse</dc:subject>
  <dc:title>NYC Taxi Data Warehouse — Snowflake &amp; dbt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On-screen Show (16:9)</vt:lpwstr>
  </property>
  <property fmtid="{D5CDD505-2E9C-101B-9397-08002B2CF9AE}" pid="4" name="Slides">
    <vt:i4>5</vt:i4>
  </property>
</Properties>
</file>